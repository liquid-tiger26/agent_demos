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8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571500" y="381000"/>
            <a:ext cx="800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rPr>
              <a:t>BSIDES SOUTH FLORIDA · TECH TALK</a:t>
            </a:r>
            <a:endParaRPr b="1" sz="1200">
              <a:solidFill>
                <a:srgbClr val="7CC44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571500" y="857250"/>
            <a:ext cx="8001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8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rPr>
              <a:t>From Prompt</a:t>
            </a:r>
            <a:endParaRPr b="1" sz="5580">
              <a:solidFill>
                <a:srgbClr val="E8EAF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80">
                <a:solidFill>
                  <a:srgbClr val="7CC440"/>
                </a:solidFill>
                <a:latin typeface="Trebuchet MS"/>
                <a:ea typeface="Trebuchet MS"/>
                <a:cs typeface="Trebuchet MS"/>
                <a:sym typeface="Trebuchet MS"/>
              </a:rPr>
              <a:t>to Pipeline.</a:t>
            </a:r>
            <a:endParaRPr b="1" sz="5580">
              <a:solidFill>
                <a:srgbClr val="7CC44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571500" y="266700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A0A5BD"/>
                </a:solidFill>
                <a:latin typeface="Trebuchet MS"/>
                <a:ea typeface="Trebuchet MS"/>
                <a:cs typeface="Trebuchet MS"/>
                <a:sym typeface="Trebuchet MS"/>
              </a:rPr>
              <a:t>How the Dual-Agent Method Automates Cloud Security Remediation</a:t>
            </a:r>
            <a:endParaRPr b="0" sz="2200">
              <a:solidFill>
                <a:srgbClr val="A0A5BD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0" name="Google Shape;20;p3"/>
          <p:cNvGrpSpPr/>
          <p:nvPr/>
        </p:nvGrpSpPr>
        <p:grpSpPr>
          <a:xfrm>
            <a:off x="571500" y="3429000"/>
            <a:ext cx="2571750" cy="304800"/>
            <a:chOff x="571500" y="3429000"/>
            <a:chExt cx="2571750" cy="304800"/>
          </a:xfrm>
        </p:grpSpPr>
        <p:sp>
          <p:nvSpPr>
            <p:cNvPr id="21" name="Google Shape;21;p3"/>
            <p:cNvSpPr/>
            <p:nvPr/>
          </p:nvSpPr>
          <p:spPr>
            <a:xfrm>
              <a:off x="571500" y="3429000"/>
              <a:ext cx="1143000" cy="304800"/>
            </a:xfrm>
            <a:prstGeom prst="roundRect">
              <a:avLst>
                <a:gd fmla="val 50000" name="adj"/>
              </a:avLst>
            </a:prstGeom>
            <a:solidFill>
              <a:srgbClr val="1A1E36"/>
            </a:solidFill>
            <a:ln cap="flat" cmpd="sng" w="9525">
              <a:solidFill>
                <a:srgbClr val="2E33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 txBox="1"/>
            <p:nvPr/>
          </p:nvSpPr>
          <p:spPr>
            <a:xfrm>
              <a:off x="571500" y="3429000"/>
              <a:ext cx="1143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7CC440"/>
                  </a:solidFill>
                  <a:latin typeface="Consolas"/>
                  <a:ea typeface="Consolas"/>
                  <a:cs typeface="Consolas"/>
                  <a:sym typeface="Consolas"/>
                </a:rPr>
                <a:t>Dual-Agent</a:t>
              </a:r>
              <a:endParaRPr b="1" sz="10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809750" y="3429000"/>
              <a:ext cx="1333500" cy="304800"/>
            </a:xfrm>
            <a:prstGeom prst="roundRect">
              <a:avLst>
                <a:gd fmla="val 50000" name="adj"/>
              </a:avLst>
            </a:prstGeom>
            <a:solidFill>
              <a:srgbClr val="1A1E36"/>
            </a:solidFill>
            <a:ln cap="flat" cmpd="sng" w="9525">
              <a:solidFill>
                <a:srgbClr val="2E33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 txBox="1"/>
            <p:nvPr/>
          </p:nvSpPr>
          <p:spPr>
            <a:xfrm>
              <a:off x="1809750" y="3429000"/>
              <a:ext cx="1333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8B5E"/>
                  </a:solidFill>
                  <a:latin typeface="Consolas"/>
                  <a:ea typeface="Consolas"/>
                  <a:cs typeface="Consolas"/>
                  <a:sym typeface="Consolas"/>
                </a:rPr>
                <a:t>pipeline_demos</a:t>
              </a:r>
              <a:endParaRPr b="1" sz="1000">
                <a:solidFill>
                  <a:srgbClr val="FF8B5E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5" name="Google Shape;25;p3"/>
          <p:cNvSpPr txBox="1"/>
          <p:nvPr/>
        </p:nvSpPr>
        <p:spPr>
          <a:xfrm>
            <a:off x="571500" y="4000500"/>
            <a:ext cx="4762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4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rPr>
              <a:t>Sara Costa</a:t>
            </a:r>
            <a:endParaRPr b="1" sz="2040">
              <a:solidFill>
                <a:srgbClr val="E8EAF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105">
                <a:solidFill>
                  <a:srgbClr val="7E84A3"/>
                </a:solidFill>
                <a:latin typeface="Trebuchet MS"/>
                <a:ea typeface="Trebuchet MS"/>
                <a:cs typeface="Trebuchet MS"/>
                <a:sym typeface="Trebuchet MS"/>
              </a:rPr>
              <a:t>Founder · Papaya Kiwi Consulting LLC</a:t>
            </a:r>
            <a:endParaRPr b="0" sz="1105">
              <a:solidFill>
                <a:srgbClr val="7E84A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105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rPr>
              <a:t>papaya.kiwi</a:t>
            </a:r>
            <a:endParaRPr b="0" sz="1105">
              <a:solidFill>
                <a:srgbClr val="7CC44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6" name="Google Shape;26;p3"/>
          <p:cNvGrpSpPr/>
          <p:nvPr/>
        </p:nvGrpSpPr>
        <p:grpSpPr>
          <a:xfrm>
            <a:off x="571500" y="4857750"/>
            <a:ext cx="8001000" cy="238125"/>
            <a:chOff x="571500" y="4857750"/>
            <a:chExt cx="8001000" cy="238125"/>
          </a:xfrm>
        </p:grpSpPr>
        <p:cxnSp>
          <p:nvCxnSpPr>
            <p:cNvPr id="27" name="Google Shape;27;p3"/>
            <p:cNvCxnSpPr/>
            <p:nvPr/>
          </p:nvCxnSpPr>
          <p:spPr>
            <a:xfrm>
              <a:off x="571500" y="485775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2E335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" name="Google Shape;28;p3"/>
            <p:cNvSpPr txBox="1"/>
            <p:nvPr/>
          </p:nvSpPr>
          <p:spPr>
            <a:xfrm>
              <a:off x="571500" y="4905375"/>
              <a:ext cx="571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4B5270"/>
                  </a:solidFill>
                  <a:latin typeface="Consolas"/>
                  <a:ea typeface="Consolas"/>
                  <a:cs typeface="Consolas"/>
                  <a:sym typeface="Consolas"/>
                </a:rPr>
                <a:t>papaya.kiwi · @PapayaKiwiSOC · BSides South Florida</a:t>
              </a:r>
              <a:endParaRPr b="0" sz="9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9" name="Google Shape;29;p3"/>
            <p:cNvSpPr txBox="1"/>
            <p:nvPr/>
          </p:nvSpPr>
          <p:spPr>
            <a:xfrm>
              <a:off x="8001000" y="4905375"/>
              <a:ext cx="57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4B5270"/>
                  </a:solidFill>
                  <a:latin typeface="Consolas"/>
                  <a:ea typeface="Consolas"/>
                  <a:cs typeface="Consolas"/>
                  <a:sym typeface="Consolas"/>
                </a:rPr>
                <a:t>01 / 14</a:t>
              </a:r>
              <a:endParaRPr b="0" sz="9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4"/>
          <p:cNvGrpSpPr/>
          <p:nvPr/>
        </p:nvGrpSpPr>
        <p:grpSpPr>
          <a:xfrm>
            <a:off x="6667500" y="-952500"/>
            <a:ext cx="3810000" cy="3810000"/>
            <a:chOff x="6667500" y="-952500"/>
            <a:chExt cx="3810000" cy="3810000"/>
          </a:xfrm>
        </p:grpSpPr>
        <p:sp>
          <p:nvSpPr>
            <p:cNvPr id="36" name="Google Shape;36;p4"/>
            <p:cNvSpPr/>
            <p:nvPr/>
          </p:nvSpPr>
          <p:spPr>
            <a:xfrm>
              <a:off x="6667500" y="-952500"/>
              <a:ext cx="3810000" cy="3810000"/>
            </a:xfrm>
            <a:prstGeom prst="ellipse">
              <a:avLst/>
            </a:prstGeom>
            <a:solidFill>
              <a:srgbClr val="FF4D6A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7905750" y="285750"/>
              <a:ext cx="2286000" cy="2286000"/>
            </a:xfrm>
            <a:prstGeom prst="ellipse">
              <a:avLst/>
            </a:prstGeom>
            <a:solidFill>
              <a:srgbClr val="FF4D6A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4"/>
          <p:cNvSpPr/>
          <p:nvPr/>
        </p:nvSpPr>
        <p:spPr>
          <a:xfrm>
            <a:off x="502920" y="274320"/>
            <a:ext cx="8138100" cy="20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98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THE PROBLEM</a:t>
            </a:r>
            <a:endParaRPr b="0" sz="698">
              <a:solidFill>
                <a:srgbClr val="4B527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02920" y="548640"/>
            <a:ext cx="8138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rPr>
              <a:t>Most security tools tell you what's wrong.</a:t>
            </a:r>
            <a:endParaRPr b="1" sz="2000">
              <a:solidFill>
                <a:srgbClr val="E8EAF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CC440"/>
                </a:solidFill>
                <a:latin typeface="Trebuchet MS"/>
                <a:ea typeface="Trebuchet MS"/>
                <a:cs typeface="Trebuchet MS"/>
                <a:sym typeface="Trebuchet MS"/>
              </a:rPr>
              <a:t>Few tell you what to do.</a:t>
            </a:r>
            <a:endParaRPr b="1" sz="2000">
              <a:solidFill>
                <a:srgbClr val="7CC4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4D6A"/>
                </a:solidFill>
                <a:latin typeface="Trebuchet MS"/>
                <a:ea typeface="Trebuchet MS"/>
                <a:cs typeface="Trebuchet MS"/>
                <a:sym typeface="Trebuchet MS"/>
              </a:rPr>
              <a:t>Almost none do it for you.</a:t>
            </a:r>
            <a:endParaRPr b="1" sz="2000">
              <a:solidFill>
                <a:srgbClr val="FF4D6A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40" name="Google Shape;40;p4"/>
          <p:cNvGrpSpPr/>
          <p:nvPr/>
        </p:nvGrpSpPr>
        <p:grpSpPr>
          <a:xfrm>
            <a:off x="502920" y="2095500"/>
            <a:ext cx="8136105" cy="1524000"/>
            <a:chOff x="502920" y="2095500"/>
            <a:chExt cx="8136105" cy="1524000"/>
          </a:xfrm>
        </p:grpSpPr>
        <p:sp>
          <p:nvSpPr>
            <p:cNvPr id="41" name="Google Shape;41;p4"/>
            <p:cNvSpPr/>
            <p:nvPr/>
          </p:nvSpPr>
          <p:spPr>
            <a:xfrm>
              <a:off x="502920" y="2095500"/>
              <a:ext cx="1809600" cy="1524000"/>
            </a:xfrm>
            <a:prstGeom prst="roundRect">
              <a:avLst>
                <a:gd fmla="val 5000" name="adj"/>
              </a:avLst>
            </a:prstGeom>
            <a:solidFill>
              <a:srgbClr val="12152A"/>
            </a:solidFill>
            <a:ln cap="flat" cmpd="sng" w="9525">
              <a:solidFill>
                <a:srgbClr val="2E33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4"/>
            <p:cNvSpPr txBox="1"/>
            <p:nvPr/>
          </p:nvSpPr>
          <p:spPr>
            <a:xfrm>
              <a:off x="598170" y="2190750"/>
              <a:ext cx="16191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4B5270"/>
                  </a:solidFill>
                  <a:latin typeface="Consolas"/>
                  <a:ea typeface="Consolas"/>
                  <a:cs typeface="Consolas"/>
                  <a:sym typeface="Consolas"/>
                </a:rPr>
                <a:t>DETECT</a:t>
              </a:r>
              <a:endParaRPr b="1" sz="9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rPr>
                <a:t>Cloud events ingested</a:t>
              </a:r>
              <a:endParaRPr sz="14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2611755" y="2095500"/>
              <a:ext cx="1809600" cy="1524000"/>
            </a:xfrm>
            <a:prstGeom prst="roundRect">
              <a:avLst>
                <a:gd fmla="val 5000" name="adj"/>
              </a:avLst>
            </a:prstGeom>
            <a:solidFill>
              <a:srgbClr val="12152A"/>
            </a:solidFill>
            <a:ln cap="flat" cmpd="sng" w="9525">
              <a:solidFill>
                <a:srgbClr val="2E33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 txBox="1"/>
            <p:nvPr/>
          </p:nvSpPr>
          <p:spPr>
            <a:xfrm>
              <a:off x="2707005" y="2190750"/>
              <a:ext cx="16191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4B5270"/>
                  </a:solidFill>
                  <a:latin typeface="Consolas"/>
                  <a:ea typeface="Consolas"/>
                  <a:cs typeface="Consolas"/>
                  <a:sym typeface="Consolas"/>
                </a:rPr>
                <a:t>ANALYZE</a:t>
              </a:r>
              <a:endParaRPr b="1" sz="9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rPr>
                <a:t>LLM processes findings</a:t>
              </a:r>
              <a:endParaRPr sz="14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4720590" y="2095500"/>
              <a:ext cx="1809600" cy="1524000"/>
            </a:xfrm>
            <a:prstGeom prst="roundRect">
              <a:avLst>
                <a:gd fmla="val 5000" name="adj"/>
              </a:avLst>
            </a:prstGeom>
            <a:solidFill>
              <a:srgbClr val="12152A"/>
            </a:solidFill>
            <a:ln cap="flat" cmpd="sng" w="9525">
              <a:solidFill>
                <a:srgbClr val="2E33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 txBox="1"/>
            <p:nvPr/>
          </p:nvSpPr>
          <p:spPr>
            <a:xfrm>
              <a:off x="4815840" y="2190750"/>
              <a:ext cx="16191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4B5270"/>
                  </a:solidFill>
                  <a:latin typeface="Consolas"/>
                  <a:ea typeface="Consolas"/>
                  <a:cs typeface="Consolas"/>
                  <a:sym typeface="Consolas"/>
                </a:rPr>
                <a:t>NARRATE</a:t>
              </a:r>
              <a:endParaRPr b="1" sz="9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rPr>
                <a:t>Attack timeline generated</a:t>
              </a:r>
              <a:endParaRPr sz="14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6829425" y="2095500"/>
              <a:ext cx="1809600" cy="1524000"/>
            </a:xfrm>
            <a:prstGeom prst="roundRect">
              <a:avLst>
                <a:gd fmla="val 5000" name="adj"/>
              </a:avLst>
            </a:prstGeom>
            <a:solidFill>
              <a:srgbClr val="1A0A0A"/>
            </a:solidFill>
            <a:ln cap="flat" cmpd="sng" w="19050">
              <a:solidFill>
                <a:srgbClr val="FF4D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 txBox="1"/>
            <p:nvPr/>
          </p:nvSpPr>
          <p:spPr>
            <a:xfrm>
              <a:off x="6924675" y="2190750"/>
              <a:ext cx="16191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4D6A"/>
                  </a:solidFill>
                  <a:latin typeface="Consolas"/>
                  <a:ea typeface="Consolas"/>
                  <a:cs typeface="Consolas"/>
                  <a:sym typeface="Consolas"/>
                </a:rPr>
                <a:t>?</a:t>
              </a:r>
              <a:endParaRPr b="1" sz="900">
                <a:solidFill>
                  <a:srgbClr val="FF4D6A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4D6A"/>
                  </a:solidFill>
                  <a:latin typeface="Consolas"/>
                  <a:ea typeface="Consolas"/>
                  <a:cs typeface="Consolas"/>
                  <a:sym typeface="Consolas"/>
                </a:rPr>
                <a:t>"What would you like to do now?"</a:t>
              </a:r>
              <a:endParaRPr b="1" sz="1400">
                <a:solidFill>
                  <a:srgbClr val="FF4D6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pic>
          <p:nvPicPr>
            <p:cNvPr id="49" name="Google Shape;49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09817" y="2790825"/>
              <a:ext cx="216000" cy="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19600" y="2790825"/>
              <a:ext cx="216000" cy="5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529393" y="2790825"/>
              <a:ext cx="216000" cy="58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" name="Google Shape;52;p4"/>
          <p:cNvSpPr/>
          <p:nvPr/>
        </p:nvSpPr>
        <p:spPr>
          <a:xfrm>
            <a:off x="274320" y="4892040"/>
            <a:ext cx="68580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81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Papaya + Kiwi · papaya.kiwi · @PapayaKiwiSOC · BSides South Florida</a:t>
            </a:r>
            <a:endParaRPr b="0" sz="581">
              <a:solidFill>
                <a:srgbClr val="2E33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046720" y="4892040"/>
            <a:ext cx="8229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81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02 / 14</a:t>
            </a:r>
            <a:endParaRPr b="0" sz="581">
              <a:solidFill>
                <a:srgbClr val="2E33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74320" y="4892040"/>
            <a:ext cx="6858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Papaya + Kiwi  ·  papaya.kiwi  ·  @PapayaKiwiSOC  ·  BSides South Florida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8046720" y="4892040"/>
            <a:ext cx="822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02 / 14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1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502920" y="274320"/>
            <a:ext cx="8138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THE DUAL-AGENT METHOD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02920" y="1333500"/>
            <a:ext cx="3950100" cy="3048000"/>
          </a:xfrm>
          <a:prstGeom prst="roundRect">
            <a:avLst>
              <a:gd fmla="val 3750" name="adj"/>
            </a:avLst>
          </a:prstGeom>
          <a:solidFill>
            <a:srgbClr val="151726"/>
          </a:solidFill>
          <a:ln cap="flat" cmpd="sng" w="19050">
            <a:solidFill>
              <a:srgbClr val="FF8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93420" y="1476375"/>
            <a:ext cx="3566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8B5E"/>
                </a:solidFill>
                <a:latin typeface="Trebuchet MS"/>
                <a:ea typeface="Trebuchet MS"/>
                <a:cs typeface="Trebuchet MS"/>
                <a:sym typeface="Trebuchet MS"/>
              </a:rPr>
              <a:t>PAPAYA</a:t>
            </a:r>
            <a:endParaRPr b="1" sz="2000">
              <a:solidFill>
                <a:srgbClr val="FF8B5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93420" y="1857375"/>
            <a:ext cx="35661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B5270"/>
                </a:solidFill>
                <a:latin typeface="Trebuchet MS"/>
                <a:ea typeface="Trebuchet MS"/>
                <a:cs typeface="Trebuchet MS"/>
                <a:sym typeface="Trebuchet MS"/>
              </a:rPr>
              <a:t>Advisory Agent</a:t>
            </a:r>
            <a:endParaRPr b="0" sz="1300">
              <a:solidFill>
                <a:srgbClr val="4B527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02920" y="512064"/>
            <a:ext cx="8138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rPr>
              <a:t>Two agents. One closed loop.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93420" y="2190750"/>
            <a:ext cx="35661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rPr>
              <a:t>▸ Listens to your natural language prompt</a:t>
            </a:r>
            <a:endParaRPr b="0" sz="1100">
              <a:solidFill>
                <a:srgbClr val="E8EAF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rPr>
              <a:t>▸ Understands what you want to scan or fix</a:t>
            </a:r>
            <a:endParaRPr b="0" sz="1100">
              <a:solidFill>
                <a:srgbClr val="E8EAF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rPr>
              <a:t>▸ Suggests which workflow to run</a:t>
            </a:r>
            <a:endParaRPr b="0" sz="1100">
              <a:solidFill>
                <a:srgbClr val="E8EAF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rPr>
              <a:t>▸ Translates findings into plain language</a:t>
            </a:r>
            <a:endParaRPr b="0" sz="1100">
              <a:solidFill>
                <a:srgbClr val="E8EAF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0" lang="en-US" sz="11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rPr>
              <a:t>▸ Structures a validated JSON handoff</a:t>
            </a:r>
            <a:endParaRPr b="0" sz="1100">
              <a:solidFill>
                <a:srgbClr val="E8EAF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690872" y="1333500"/>
            <a:ext cx="3950100" cy="3048000"/>
          </a:xfrm>
          <a:prstGeom prst="roundRect">
            <a:avLst>
              <a:gd fmla="val 3750" name="adj"/>
            </a:avLst>
          </a:prstGeom>
          <a:solidFill>
            <a:srgbClr val="151726"/>
          </a:solidFill>
          <a:ln cap="flat" cmpd="sng" w="19050">
            <a:solidFill>
              <a:srgbClr val="7CC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881372" y="1476375"/>
            <a:ext cx="3566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CC440"/>
                </a:solidFill>
                <a:latin typeface="Trebuchet MS"/>
                <a:ea typeface="Trebuchet MS"/>
                <a:cs typeface="Trebuchet MS"/>
                <a:sym typeface="Trebuchet MS"/>
              </a:rPr>
              <a:t>KIWI</a:t>
            </a:r>
            <a:endParaRPr b="1" sz="2000">
              <a:solidFill>
                <a:srgbClr val="7CC44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881372" y="1857375"/>
            <a:ext cx="35661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B5270"/>
                </a:solidFill>
                <a:latin typeface="Trebuchet MS"/>
                <a:ea typeface="Trebuchet MS"/>
                <a:cs typeface="Trebuchet MS"/>
                <a:sym typeface="Trebuchet MS"/>
              </a:rPr>
              <a:t>Scanner + Executor</a:t>
            </a:r>
            <a:endParaRPr b="0" sz="1300">
              <a:solidFill>
                <a:srgbClr val="4B527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881372" y="2190750"/>
            <a:ext cx="35661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rPr>
              <a:t>▸ Ingests the JSON handoff from Papaya</a:t>
            </a:r>
            <a:endParaRPr b="0" sz="1100">
              <a:solidFill>
                <a:srgbClr val="E8EAF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rPr>
              <a:t>▸ Dispatches the selected GitHub Actions workflow</a:t>
            </a:r>
            <a:endParaRPr b="0" sz="1100">
              <a:solidFill>
                <a:srgbClr val="E8EAF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rPr>
              <a:t>▸ Runs the scan against your repo or image</a:t>
            </a:r>
            <a:endParaRPr b="0" sz="1100">
              <a:solidFill>
                <a:srgbClr val="E8EAF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rPr>
              <a:t>▸ Executes Terraform plan + apply</a:t>
            </a:r>
            <a:endParaRPr b="0" sz="1100">
              <a:solidFill>
                <a:srgbClr val="E8EAF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0" lang="en-US" sz="11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rPr>
              <a:t>▸ Confirms and logs every action taken</a:t>
            </a:r>
            <a:endParaRPr b="0" sz="1100">
              <a:solidFill>
                <a:srgbClr val="E8EAF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1" name="Google Shape;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2938" y="2752725"/>
            <a:ext cx="252300" cy="209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" name="Google Shape;72;p5"/>
          <p:cNvGrpSpPr/>
          <p:nvPr/>
        </p:nvGrpSpPr>
        <p:grpSpPr>
          <a:xfrm>
            <a:off x="4243388" y="2905125"/>
            <a:ext cx="428700" cy="171600"/>
            <a:chOff x="4243388" y="2905125"/>
            <a:chExt cx="428700" cy="171600"/>
          </a:xfrm>
        </p:grpSpPr>
        <p:sp>
          <p:nvSpPr>
            <p:cNvPr id="73" name="Google Shape;73;p5"/>
            <p:cNvSpPr/>
            <p:nvPr/>
          </p:nvSpPr>
          <p:spPr>
            <a:xfrm>
              <a:off x="4243388" y="2905125"/>
              <a:ext cx="428700" cy="171600"/>
            </a:xfrm>
            <a:prstGeom prst="roundRect">
              <a:avLst>
                <a:gd fmla="val 22222" name="adj"/>
              </a:avLst>
            </a:prstGeom>
            <a:solidFill>
              <a:srgbClr val="1A1E36"/>
            </a:solidFill>
            <a:ln cap="flat" cmpd="sng" w="9525">
              <a:solidFill>
                <a:srgbClr val="4B52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5"/>
            <p:cNvSpPr txBox="1"/>
            <p:nvPr/>
          </p:nvSpPr>
          <p:spPr>
            <a:xfrm>
              <a:off x="4243388" y="2905125"/>
              <a:ext cx="428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rgbClr val="4B5270"/>
                  </a:solidFill>
                  <a:latin typeface="Consolas"/>
                  <a:ea typeface="Consolas"/>
                  <a:cs typeface="Consolas"/>
                  <a:sym typeface="Consolas"/>
                </a:rPr>
                <a:t>JSON</a:t>
              </a:r>
              <a:endParaRPr sz="7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75" name="Google Shape;75;p5"/>
          <p:cNvSpPr/>
          <p:nvPr/>
        </p:nvSpPr>
        <p:spPr>
          <a:xfrm>
            <a:off x="274320" y="4892040"/>
            <a:ext cx="6858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Papaya + Kiwi  ·  papaya.kiwi  ·  @PapayaKiwiSOC  ·  BSides South Florida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8046720" y="4892040"/>
            <a:ext cx="822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03 / 14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502920" y="274320"/>
            <a:ext cx="8138100" cy="20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STEP 1 · YOU TYPE A PROMPT</a:t>
            </a:r>
            <a:endParaRPr sz="900">
              <a:solidFill>
                <a:srgbClr val="4B527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02920" y="512064"/>
            <a:ext cx="8138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rPr>
              <a:t>It starts with a sentence.</a:t>
            </a:r>
            <a:endParaRPr b="1" sz="2800">
              <a:solidFill>
                <a:srgbClr val="E8EAF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02920" y="1333500"/>
            <a:ext cx="8138100" cy="3238500"/>
          </a:xfrm>
          <a:prstGeom prst="roundRect">
            <a:avLst>
              <a:gd fmla="val 3529" name="adj"/>
            </a:avLst>
          </a:prstGeom>
          <a:solidFill>
            <a:srgbClr val="0C0E1E"/>
          </a:solidFill>
          <a:ln cap="flat" cmpd="sng" w="19050">
            <a:solidFill>
              <a:srgbClr val="2E3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676275" y="1504950"/>
            <a:ext cx="133500" cy="13350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885825" y="1504950"/>
            <a:ext cx="133500" cy="1335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1095375" y="1504950"/>
            <a:ext cx="133500" cy="13350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3474720" y="1489329"/>
            <a:ext cx="2194500" cy="16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papaya-kiwi — bash</a:t>
            </a:r>
            <a:endParaRPr sz="900">
              <a:solidFill>
                <a:srgbClr val="4B527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857250" y="1905000"/>
            <a:ext cx="7429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rPr>
              <a:t>&gt; "scan this container image and remediate any critical CVEs"</a:t>
            </a:r>
            <a:endParaRPr b="1" sz="1300">
              <a:solidFill>
                <a:srgbClr val="7CC44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B5270"/>
                </a:solidFill>
                <a:highlight>
                  <a:srgbClr val="1A1E36"/>
                </a:highlight>
                <a:latin typeface="Consolas"/>
                <a:ea typeface="Consolas"/>
                <a:cs typeface="Consolas"/>
                <a:sym typeface="Consolas"/>
              </a:rPr>
              <a:t>→ Papaya recognizes: Docker image scan + fix</a:t>
            </a:r>
            <a:endParaRPr b="0" sz="1000">
              <a:solidFill>
                <a:srgbClr val="4B5270"/>
              </a:solidFill>
              <a:highlight>
                <a:srgbClr val="1A1E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857250" y="2667000"/>
            <a:ext cx="7429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rPr>
              <a:t>&gt; "check my Terraform for misconfigurations"</a:t>
            </a:r>
            <a:endParaRPr b="1" sz="1300">
              <a:solidFill>
                <a:srgbClr val="F5C8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B5270"/>
                </a:solidFill>
                <a:highlight>
                  <a:srgbClr val="1A1E36"/>
                </a:highlight>
                <a:latin typeface="Consolas"/>
                <a:ea typeface="Consolas"/>
                <a:cs typeface="Consolas"/>
                <a:sym typeface="Consolas"/>
              </a:rPr>
              <a:t>→ Papaya recognizes: Checkov IaC scan</a:t>
            </a:r>
            <a:endParaRPr b="0" sz="1000">
              <a:solidFill>
                <a:srgbClr val="4B5270"/>
              </a:solidFill>
              <a:highlight>
                <a:srgbClr val="1A1E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857250" y="3429000"/>
            <a:ext cx="7429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8B5E"/>
                </a:solidFill>
                <a:latin typeface="Consolas"/>
                <a:ea typeface="Consolas"/>
                <a:cs typeface="Consolas"/>
                <a:sym typeface="Consolas"/>
              </a:rPr>
              <a:t>&gt; "run a cloud compliance check on my AWS account"</a:t>
            </a:r>
            <a:endParaRPr b="1" sz="1300">
              <a:solidFill>
                <a:srgbClr val="FF8B5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B5270"/>
                </a:solidFill>
                <a:highlight>
                  <a:srgbClr val="1A1E36"/>
                </a:highlight>
                <a:latin typeface="Consolas"/>
                <a:ea typeface="Consolas"/>
                <a:cs typeface="Consolas"/>
                <a:sym typeface="Consolas"/>
              </a:rPr>
              <a:t>→ Papaya recognizes: Prowler CIS benchmark</a:t>
            </a:r>
            <a:endParaRPr b="0" sz="1000">
              <a:solidFill>
                <a:srgbClr val="4B5270"/>
              </a:solidFill>
              <a:highlight>
                <a:srgbClr val="1A1E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274320" y="4892040"/>
            <a:ext cx="6858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Papaya + Kiwi  ·  papaya.kiwi  ·  @PapayaKiwiSOC  ·  BSides South Florida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8046720" y="4892040"/>
            <a:ext cx="822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04 / 14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81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/>
          <p:nvPr/>
        </p:nvSpPr>
        <p:spPr>
          <a:xfrm>
            <a:off x="502920" y="274320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STEP 2  ·  PAPAYA INTERPRETS + SUGGESTS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02920" y="512064"/>
            <a:ext cx="8138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rPr>
              <a:t>Papaya asks. You confirm.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320040" y="1042416"/>
            <a:ext cx="8503920" cy="3749040"/>
          </a:xfrm>
          <a:prstGeom prst="roundRect">
            <a:avLst>
              <a:gd fmla="val 1951" name="adj"/>
            </a:avLst>
          </a:prstGeom>
          <a:solidFill>
            <a:srgbClr val="0C0E1E"/>
          </a:solidFill>
          <a:ln cap="flat" cmpd="sng" w="19050">
            <a:solidFill>
              <a:srgbClr val="2E3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493776" y="1152144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749808" y="1152144"/>
            <a:ext cx="164592" cy="16459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1005840" y="1152144"/>
            <a:ext cx="164592" cy="164592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3474720" y="1152144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papaya-kiwi  —  bash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02920" y="153619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D9E0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4DD9E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768096" y="1536192"/>
            <a:ext cx="7406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D9E0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4DD9E0"/>
                </a:solidFill>
                <a:latin typeface="Consolas"/>
                <a:ea typeface="Consolas"/>
                <a:cs typeface="Consolas"/>
                <a:sym typeface="Consolas"/>
              </a:rPr>
              <a:t>scan this container image and remediate any critical CVEs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02920" y="189280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B5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8B5E"/>
                </a:solidFill>
                <a:latin typeface="Consolas"/>
                <a:ea typeface="Consolas"/>
                <a:cs typeface="Consolas"/>
                <a:sym typeface="Consolas"/>
              </a:rPr>
              <a:t>PAPAYA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389888" y="1892808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rPr>
              <a:t>Got it — scanning a container image for critical CVEs.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02920" y="2121408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rPr>
              <a:t>I'd suggest running the Docker Image Scan workflow.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502920" y="2350008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It uses Trivy to check for vulnerabilities in your image.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02920" y="27066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B5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8B5E"/>
                </a:solidFill>
                <a:latin typeface="Consolas"/>
                <a:ea typeface="Consolas"/>
                <a:cs typeface="Consolas"/>
                <a:sym typeface="Consolas"/>
              </a:rPr>
              <a:t>PAPAYA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389888" y="2706624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B5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8B5E"/>
                </a:solidFill>
                <a:latin typeface="Consolas"/>
                <a:ea typeface="Consolas"/>
                <a:cs typeface="Consolas"/>
                <a:sym typeface="Consolas"/>
              </a:rPr>
              <a:t>Which workflow should Kiwi run?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02920" y="29352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C44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rPr>
              <a:t>  [1]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389888" y="2935224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rPr>
              <a:t>Docker Image Scan.yml   ← recommended for this prompt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02920" y="31638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rPr>
              <a:t>  [2]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389888" y="3163824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checkov.yml             ← IaC / Terraform policy scan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02920" y="3392424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B5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8B5E"/>
                </a:solidFill>
                <a:latin typeface="Consolas"/>
                <a:ea typeface="Consolas"/>
                <a:cs typeface="Consolas"/>
                <a:sym typeface="Consolas"/>
              </a:rPr>
              <a:t>  [3]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389888" y="3392424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prowler.yml             ← AWS cloud compliance check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02920" y="374904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D9E0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4DD9E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768096" y="3749040"/>
            <a:ext cx="7406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D9E0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4DD9E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02920" y="4105656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B5E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8B5E"/>
                </a:solidFill>
                <a:latin typeface="Consolas"/>
                <a:ea typeface="Consolas"/>
                <a:cs typeface="Consolas"/>
                <a:sym typeface="Consolas"/>
              </a:rPr>
              <a:t>PAPAYA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389888" y="4105656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C440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rPr>
              <a:t>Confirmed. Handing off to Kiwi → Docker Image Scan.yml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274320" y="4892040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Papaya + Kiwi  ·  papaya.kiwi  ·  @PapayaKiwiSOC  ·  BSides South Florida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05 / 14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18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/>
          <p:nvPr/>
        </p:nvSpPr>
        <p:spPr>
          <a:xfrm>
            <a:off x="502920" y="274320"/>
            <a:ext cx="8138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THE WORKFLOWS  ·  .GITHUB/WORKFLOWS/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02920" y="512064"/>
            <a:ext cx="8138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rPr>
              <a:t>Three real GitHub Actions.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rPr>
              <a:t>Kiwi knows how to run all of them.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381000" y="1333500"/>
            <a:ext cx="2571900" cy="3238500"/>
          </a:xfrm>
          <a:prstGeom prst="roundRect">
            <a:avLst>
              <a:gd fmla="val 4444" name="adj"/>
            </a:avLst>
          </a:prstGeom>
          <a:solidFill>
            <a:srgbClr val="0C1406"/>
          </a:solidFill>
          <a:ln cap="flat" cmpd="sng" w="19050">
            <a:solidFill>
              <a:srgbClr val="7CC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523875" y="1476375"/>
            <a:ext cx="2286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rPr>
              <a:t>Docker Image Scan.yml</a:t>
            </a:r>
            <a:endParaRPr b="1" sz="1400">
              <a:solidFill>
                <a:srgbClr val="7CC44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Trivy</a:t>
            </a:r>
            <a:endParaRPr b="0" sz="900">
              <a:solidFill>
                <a:srgbClr val="4B527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523875" y="2047875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762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7CC440"/>
                </a:solidFill>
                <a:highlight>
                  <a:srgbClr val="1A2610"/>
                </a:highlight>
                <a:latin typeface="Consolas"/>
                <a:ea typeface="Consolas"/>
                <a:cs typeface="Consolas"/>
                <a:sym typeface="Consolas"/>
              </a:rPr>
              <a:t>Push to main or manual dispatch</a:t>
            </a:r>
            <a:endParaRPr b="0" sz="800">
              <a:solidFill>
                <a:srgbClr val="7CC440"/>
              </a:solidFill>
              <a:highlight>
                <a:srgbClr val="1A261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23875" y="2381250"/>
            <a:ext cx="22860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  <a:r>
              <a:rPr lang="en-US" sz="1100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Container image CVE scan</a:t>
            </a:r>
            <a:endParaRPr sz="1100">
              <a:solidFill>
                <a:srgbClr val="E8EA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  <a:r>
              <a:rPr lang="en-US" sz="1100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Trivy · severity-ranked findings</a:t>
            </a:r>
            <a:endParaRPr sz="1100">
              <a:solidFill>
                <a:srgbClr val="E8EA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  <a:r>
              <a:rPr lang="en-US" sz="1100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Findings JSON artifact output</a:t>
            </a:r>
            <a:endParaRPr sz="1100">
              <a:solidFill>
                <a:srgbClr val="E8EA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  <a:r>
              <a:rPr lang="en-US" sz="1100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Auto-patches CRITICAL CVEs</a:t>
            </a:r>
            <a:endParaRPr sz="1100">
              <a:solidFill>
                <a:srgbClr val="E8EA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3286125" y="1333500"/>
            <a:ext cx="2571900" cy="3238500"/>
          </a:xfrm>
          <a:prstGeom prst="roundRect">
            <a:avLst>
              <a:gd fmla="val 4444" name="adj"/>
            </a:avLst>
          </a:prstGeom>
          <a:solidFill>
            <a:srgbClr val="141206"/>
          </a:solidFill>
          <a:ln cap="flat" cmpd="sng" w="19050">
            <a:solidFill>
              <a:srgbClr val="F5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3429000" y="1476375"/>
            <a:ext cx="2286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rPr>
              <a:t>checkov.yml</a:t>
            </a:r>
            <a:endParaRPr b="1" sz="1400">
              <a:solidFill>
                <a:srgbClr val="F5C8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Checkov</a:t>
            </a:r>
            <a:endParaRPr b="0" sz="900">
              <a:solidFill>
                <a:srgbClr val="4B527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3429000" y="2047875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762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F5C842"/>
                </a:solidFill>
                <a:highlight>
                  <a:srgbClr val="262210"/>
                </a:highlight>
                <a:latin typeface="Consolas"/>
                <a:ea typeface="Consolas"/>
                <a:cs typeface="Consolas"/>
                <a:sym typeface="Consolas"/>
              </a:rPr>
              <a:t>Push to /tf or manual dispatch</a:t>
            </a:r>
            <a:endParaRPr b="0" sz="800">
              <a:solidFill>
                <a:srgbClr val="F5C842"/>
              </a:solidFill>
              <a:highlight>
                <a:srgbClr val="26221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3429000" y="2381250"/>
            <a:ext cx="22860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  <a:r>
              <a:rPr lang="en-US" sz="1100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Scans /tf Terraform directory</a:t>
            </a:r>
            <a:endParaRPr sz="1100">
              <a:solidFill>
                <a:srgbClr val="E8EA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  <a:r>
              <a:rPr lang="en-US" sz="1100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CIS + custom policy evaluation</a:t>
            </a:r>
            <a:endParaRPr sz="1100">
              <a:solidFill>
                <a:srgbClr val="E8EA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  <a:r>
              <a:rPr lang="en-US" sz="1100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Flags misconfigs before apply</a:t>
            </a:r>
            <a:endParaRPr sz="1100">
              <a:solidFill>
                <a:srgbClr val="E8EA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  <a:r>
              <a:rPr lang="en-US" sz="1100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Kiwi runs terraform plan on pass</a:t>
            </a:r>
            <a:endParaRPr sz="1100">
              <a:solidFill>
                <a:srgbClr val="E8EA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191250" y="1333500"/>
            <a:ext cx="2571900" cy="3238500"/>
          </a:xfrm>
          <a:prstGeom prst="roundRect">
            <a:avLst>
              <a:gd fmla="val 4444" name="adj"/>
            </a:avLst>
          </a:prstGeom>
          <a:solidFill>
            <a:srgbClr val="140C06"/>
          </a:solidFill>
          <a:ln cap="flat" cmpd="sng" w="19050">
            <a:solidFill>
              <a:srgbClr val="FF8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6334125" y="1476375"/>
            <a:ext cx="2286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8B5E"/>
                </a:solidFill>
                <a:latin typeface="Consolas"/>
                <a:ea typeface="Consolas"/>
                <a:cs typeface="Consolas"/>
                <a:sym typeface="Consolas"/>
              </a:rPr>
              <a:t>prowler.yml</a:t>
            </a:r>
            <a:endParaRPr b="1" sz="1400">
              <a:solidFill>
                <a:srgbClr val="FF8B5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Prowler</a:t>
            </a:r>
            <a:endParaRPr b="0" sz="900">
              <a:solidFill>
                <a:srgbClr val="4B527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334125" y="2047875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762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FF8B5E"/>
                </a:solidFill>
                <a:highlight>
                  <a:srgbClr val="261610"/>
                </a:highlight>
                <a:latin typeface="Consolas"/>
                <a:ea typeface="Consolas"/>
                <a:cs typeface="Consolas"/>
                <a:sym typeface="Consolas"/>
              </a:rPr>
              <a:t>Scheduled or manual dispatch</a:t>
            </a:r>
            <a:endParaRPr b="0" sz="800">
              <a:solidFill>
                <a:srgbClr val="FF8B5E"/>
              </a:solidFill>
              <a:highlight>
                <a:srgbClr val="26161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334125" y="2381250"/>
            <a:ext cx="22860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8B5E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  <a:r>
              <a:rPr lang="en-US" sz="1100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GitHub OIDC auth (no stored keys)</a:t>
            </a:r>
            <a:endParaRPr sz="1100">
              <a:solidFill>
                <a:srgbClr val="E8EA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8B5E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  <a:r>
              <a:rPr lang="en-US" sz="1100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CIS AWS Foundations benchmark</a:t>
            </a:r>
            <a:endParaRPr sz="1100">
              <a:solidFill>
                <a:srgbClr val="E8EA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8B5E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  <a:r>
              <a:rPr lang="en-US" sz="1100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Findings per account + region</a:t>
            </a:r>
            <a:endParaRPr sz="1100">
              <a:solidFill>
                <a:srgbClr val="E8EA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>
                <a:solidFill>
                  <a:srgbClr val="FF8B5E"/>
                </a:solidFill>
                <a:latin typeface="Consolas"/>
                <a:ea typeface="Consolas"/>
                <a:cs typeface="Consolas"/>
                <a:sym typeface="Consolas"/>
              </a:rPr>
              <a:t>·</a:t>
            </a:r>
            <a:r>
              <a:rPr lang="en-US" sz="1100">
                <a:solidFill>
                  <a:srgbClr val="E8EAF6"/>
                </a:solidFill>
                <a:latin typeface="Calibri"/>
                <a:ea typeface="Calibri"/>
                <a:cs typeface="Calibri"/>
                <a:sym typeface="Calibri"/>
              </a:rPr>
              <a:t>Kiwi queues remediation plays</a:t>
            </a:r>
            <a:endParaRPr sz="1100">
              <a:solidFill>
                <a:srgbClr val="E8EA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256032" y="4754880"/>
            <a:ext cx="8631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repo: github.com/papaya-kiwi/pipeline_demos  ·  all workflows already committed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274320" y="4892040"/>
            <a:ext cx="6858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Papaya + Kiwi  ·  papaya.kiwi  ·  @PapayaKiwiSOC  ·  BSides South Florida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8046720" y="4892040"/>
            <a:ext cx="822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06 / 14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/>
          <p:nvPr/>
        </p:nvSpPr>
        <p:spPr>
          <a:xfrm>
            <a:off x="502920" y="274320"/>
            <a:ext cx="8138100" cy="20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98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STEP 3 · KIWI EXECUTES</a:t>
            </a:r>
            <a:endParaRPr b="0" sz="698">
              <a:solidFill>
                <a:srgbClr val="4B527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096000" y="-285750"/>
            <a:ext cx="5715000" cy="5715000"/>
          </a:xfrm>
          <a:prstGeom prst="ellipse">
            <a:avLst/>
          </a:prstGeom>
          <a:solidFill>
            <a:srgbClr val="7CC440">
              <a:alpha val="10000"/>
            </a:srgbClr>
          </a:solidFill>
          <a:ln cap="flat" cmpd="sng" w="12375">
            <a:solidFill>
              <a:srgbClr val="7CC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7048500" y="666750"/>
            <a:ext cx="3810000" cy="3810000"/>
          </a:xfrm>
          <a:prstGeom prst="ellipse">
            <a:avLst/>
          </a:prstGeom>
          <a:solidFill>
            <a:srgbClr val="7CC440">
              <a:alpha val="20000"/>
            </a:srgbClr>
          </a:solidFill>
          <a:ln cap="flat" cmpd="sng" w="12375">
            <a:solidFill>
              <a:srgbClr val="7CC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8001000" y="1619250"/>
            <a:ext cx="1905000" cy="1905000"/>
          </a:xfrm>
          <a:prstGeom prst="ellipse">
            <a:avLst/>
          </a:prstGeom>
          <a:solidFill>
            <a:srgbClr val="7CC440">
              <a:alpha val="30000"/>
            </a:srgbClr>
          </a:solidFill>
          <a:ln cap="flat" cmpd="sng" w="12375">
            <a:solidFill>
              <a:srgbClr val="7CC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502920" y="512064"/>
            <a:ext cx="81381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rPr>
              <a:t>Kiwi doesn't suggest. </a:t>
            </a:r>
            <a:r>
              <a:rPr b="1" lang="en-US" sz="3200">
                <a:solidFill>
                  <a:srgbClr val="7CC440"/>
                </a:solidFill>
                <a:latin typeface="Trebuchet MS"/>
                <a:ea typeface="Trebuchet MS"/>
                <a:cs typeface="Trebuchet MS"/>
                <a:sym typeface="Trebuchet MS"/>
              </a:rPr>
              <a:t>Kiwi ships.</a:t>
            </a:r>
            <a:endParaRPr b="1" sz="3200">
              <a:solidFill>
                <a:srgbClr val="E8EAF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58" name="Google Shape;158;p9"/>
          <p:cNvGrpSpPr/>
          <p:nvPr/>
        </p:nvGrpSpPr>
        <p:grpSpPr>
          <a:xfrm>
            <a:off x="502920" y="1381125"/>
            <a:ext cx="8138310" cy="3143250"/>
            <a:chOff x="502920" y="1381125"/>
            <a:chExt cx="8138310" cy="3143250"/>
          </a:xfrm>
        </p:grpSpPr>
        <p:grpSp>
          <p:nvGrpSpPr>
            <p:cNvPr id="159" name="Google Shape;159;p9"/>
            <p:cNvGrpSpPr/>
            <p:nvPr/>
          </p:nvGrpSpPr>
          <p:grpSpPr>
            <a:xfrm>
              <a:off x="502920" y="1381125"/>
              <a:ext cx="3905400" cy="952500"/>
              <a:chOff x="502920" y="1381125"/>
              <a:chExt cx="3905400" cy="952500"/>
            </a:xfrm>
          </p:grpSpPr>
          <p:sp>
            <p:nvSpPr>
              <p:cNvPr id="160" name="Google Shape;160;p9"/>
              <p:cNvSpPr/>
              <p:nvPr/>
            </p:nvSpPr>
            <p:spPr>
              <a:xfrm>
                <a:off x="502920" y="1381125"/>
                <a:ext cx="3905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1A1020"/>
              </a:solidFill>
              <a:ln cap="flat" cmpd="sng" w="9525">
                <a:solidFill>
                  <a:srgbClr val="F2A7C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655320" y="1533525"/>
                <a:ext cx="266700" cy="266700"/>
              </a:xfrm>
              <a:prstGeom prst="ellipse">
                <a:avLst/>
              </a:prstGeom>
              <a:solidFill>
                <a:srgbClr val="F2A7C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9"/>
              <p:cNvSpPr txBox="1"/>
              <p:nvPr/>
            </p:nvSpPr>
            <p:spPr>
              <a:xfrm>
                <a:off x="655320" y="1533525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A0C1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01</a:t>
                </a:r>
                <a:endParaRPr b="1" sz="1000">
                  <a:solidFill>
                    <a:srgbClr val="0A0C18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63" name="Google Shape;163;p9"/>
              <p:cNvSpPr txBox="1"/>
              <p:nvPr/>
            </p:nvSpPr>
            <p:spPr>
              <a:xfrm>
                <a:off x="1047750" y="1476375"/>
                <a:ext cx="3238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E8EAF6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Receives JSON handoff</a:t>
                </a:r>
                <a:endParaRPr b="1" sz="12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4B527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schema validated · workflow identified</a:t>
                </a:r>
                <a:endParaRPr sz="900">
                  <a:solidFill>
                    <a:srgbClr val="4B527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164" name="Google Shape;164;p9"/>
            <p:cNvGrpSpPr/>
            <p:nvPr/>
          </p:nvGrpSpPr>
          <p:grpSpPr>
            <a:xfrm>
              <a:off x="4735830" y="1381125"/>
              <a:ext cx="3905400" cy="952500"/>
              <a:chOff x="4735830" y="1381125"/>
              <a:chExt cx="3905400" cy="952500"/>
            </a:xfrm>
          </p:grpSpPr>
          <p:sp>
            <p:nvSpPr>
              <p:cNvPr id="165" name="Google Shape;165;p9"/>
              <p:cNvSpPr/>
              <p:nvPr/>
            </p:nvSpPr>
            <p:spPr>
              <a:xfrm>
                <a:off x="4735830" y="1381125"/>
                <a:ext cx="3905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0D1A0D"/>
              </a:solidFill>
              <a:ln cap="flat" cmpd="sng" w="9525">
                <a:solidFill>
                  <a:srgbClr val="7CC4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9"/>
              <p:cNvSpPr/>
              <p:nvPr/>
            </p:nvSpPr>
            <p:spPr>
              <a:xfrm>
                <a:off x="4888230" y="1533525"/>
                <a:ext cx="266700" cy="266700"/>
              </a:xfrm>
              <a:prstGeom prst="ellipse">
                <a:avLst/>
              </a:prstGeom>
              <a:solidFill>
                <a:srgbClr val="7CC44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9"/>
              <p:cNvSpPr txBox="1"/>
              <p:nvPr/>
            </p:nvSpPr>
            <p:spPr>
              <a:xfrm>
                <a:off x="4888230" y="1533525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A0C1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02</a:t>
                </a:r>
                <a:endParaRPr b="1" sz="1000">
                  <a:solidFill>
                    <a:srgbClr val="0A0C18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68" name="Google Shape;168;p9"/>
              <p:cNvSpPr txBox="1"/>
              <p:nvPr/>
            </p:nvSpPr>
            <p:spPr>
              <a:xfrm>
                <a:off x="5280660" y="1476375"/>
                <a:ext cx="3238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E8EAF6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Dispatches workflow</a:t>
                </a:r>
                <a:endParaRPr b="1" sz="12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4B527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POST /repos/{owner}/{repo}/actions/...</a:t>
                </a:r>
                <a:endParaRPr sz="800">
                  <a:solidFill>
                    <a:srgbClr val="4B527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169" name="Google Shape;169;p9"/>
            <p:cNvGrpSpPr/>
            <p:nvPr/>
          </p:nvGrpSpPr>
          <p:grpSpPr>
            <a:xfrm>
              <a:off x="502920" y="2476500"/>
              <a:ext cx="3905400" cy="952500"/>
              <a:chOff x="502920" y="2476500"/>
              <a:chExt cx="3905400" cy="952500"/>
            </a:xfrm>
          </p:grpSpPr>
          <p:sp>
            <p:nvSpPr>
              <p:cNvPr id="170" name="Google Shape;170;p9"/>
              <p:cNvSpPr/>
              <p:nvPr/>
            </p:nvSpPr>
            <p:spPr>
              <a:xfrm>
                <a:off x="502920" y="2476500"/>
                <a:ext cx="3905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0D1A0D"/>
              </a:solidFill>
              <a:ln cap="flat" cmpd="sng" w="9525">
                <a:solidFill>
                  <a:srgbClr val="7CC4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9"/>
              <p:cNvSpPr/>
              <p:nvPr/>
            </p:nvSpPr>
            <p:spPr>
              <a:xfrm>
                <a:off x="655320" y="2628900"/>
                <a:ext cx="266700" cy="266700"/>
              </a:xfrm>
              <a:prstGeom prst="ellipse">
                <a:avLst/>
              </a:prstGeom>
              <a:solidFill>
                <a:srgbClr val="7CC44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9"/>
              <p:cNvSpPr txBox="1"/>
              <p:nvPr/>
            </p:nvSpPr>
            <p:spPr>
              <a:xfrm>
                <a:off x="655320" y="262890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A0C1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03</a:t>
                </a:r>
                <a:endParaRPr b="1" sz="1000">
                  <a:solidFill>
                    <a:srgbClr val="0A0C18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73" name="Google Shape;173;p9"/>
              <p:cNvSpPr txBox="1"/>
              <p:nvPr/>
            </p:nvSpPr>
            <p:spPr>
              <a:xfrm>
                <a:off x="1047750" y="2571750"/>
                <a:ext cx="3238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E8EAF6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Monitors run status</a:t>
                </a:r>
                <a:endParaRPr b="1" sz="12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4B527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polls GitHub API · streams logs</a:t>
                </a:r>
                <a:endParaRPr sz="900">
                  <a:solidFill>
                    <a:srgbClr val="4B527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174" name="Google Shape;174;p9"/>
            <p:cNvGrpSpPr/>
            <p:nvPr/>
          </p:nvGrpSpPr>
          <p:grpSpPr>
            <a:xfrm>
              <a:off x="4735830" y="2476500"/>
              <a:ext cx="3905400" cy="952500"/>
              <a:chOff x="4735830" y="2476500"/>
              <a:chExt cx="3905400" cy="952500"/>
            </a:xfrm>
          </p:grpSpPr>
          <p:sp>
            <p:nvSpPr>
              <p:cNvPr id="175" name="Google Shape;175;p9"/>
              <p:cNvSpPr/>
              <p:nvPr/>
            </p:nvSpPr>
            <p:spPr>
              <a:xfrm>
                <a:off x="4735830" y="2476500"/>
                <a:ext cx="3905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2C2414"/>
              </a:solidFill>
              <a:ln cap="flat" cmpd="sng" w="9525">
                <a:solidFill>
                  <a:srgbClr val="F5C84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9"/>
              <p:cNvSpPr/>
              <p:nvPr/>
            </p:nvSpPr>
            <p:spPr>
              <a:xfrm>
                <a:off x="4888230" y="2628900"/>
                <a:ext cx="266700" cy="266700"/>
              </a:xfrm>
              <a:prstGeom prst="ellipse">
                <a:avLst/>
              </a:prstGeom>
              <a:solidFill>
                <a:srgbClr val="F5C84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9"/>
              <p:cNvSpPr txBox="1"/>
              <p:nvPr/>
            </p:nvSpPr>
            <p:spPr>
              <a:xfrm>
                <a:off x="4888230" y="262890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A0C1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04</a:t>
                </a:r>
                <a:endParaRPr b="1" sz="1000">
                  <a:solidFill>
                    <a:srgbClr val="0A0C18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78" name="Google Shape;178;p9"/>
              <p:cNvSpPr txBox="1"/>
              <p:nvPr/>
            </p:nvSpPr>
            <p:spPr>
              <a:xfrm>
                <a:off x="5280660" y="2571750"/>
                <a:ext cx="3238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E8EAF6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Retrieves findings JSON</a:t>
                </a:r>
                <a:endParaRPr b="1" sz="12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4B527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papaya-kiwi-scan-report.json</a:t>
                </a:r>
                <a:endParaRPr sz="900">
                  <a:solidFill>
                    <a:srgbClr val="4B527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179" name="Google Shape;179;p9"/>
            <p:cNvGrpSpPr/>
            <p:nvPr/>
          </p:nvGrpSpPr>
          <p:grpSpPr>
            <a:xfrm>
              <a:off x="502920" y="3571875"/>
              <a:ext cx="3905400" cy="952500"/>
              <a:chOff x="502920" y="3571875"/>
              <a:chExt cx="3905400" cy="952500"/>
            </a:xfrm>
          </p:grpSpPr>
          <p:sp>
            <p:nvSpPr>
              <p:cNvPr id="180" name="Google Shape;180;p9"/>
              <p:cNvSpPr/>
              <p:nvPr/>
            </p:nvSpPr>
            <p:spPr>
              <a:xfrm>
                <a:off x="502920" y="3571875"/>
                <a:ext cx="3905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0D1A0D"/>
              </a:solidFill>
              <a:ln cap="flat" cmpd="sng" w="9525">
                <a:solidFill>
                  <a:srgbClr val="7CC4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9"/>
              <p:cNvSpPr/>
              <p:nvPr/>
            </p:nvSpPr>
            <p:spPr>
              <a:xfrm>
                <a:off x="655320" y="3724275"/>
                <a:ext cx="266700" cy="266700"/>
              </a:xfrm>
              <a:prstGeom prst="ellipse">
                <a:avLst/>
              </a:prstGeom>
              <a:solidFill>
                <a:srgbClr val="7CC44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9"/>
              <p:cNvSpPr txBox="1"/>
              <p:nvPr/>
            </p:nvSpPr>
            <p:spPr>
              <a:xfrm>
                <a:off x="655320" y="3724275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A0C1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05</a:t>
                </a:r>
                <a:endParaRPr b="1" sz="1000">
                  <a:solidFill>
                    <a:srgbClr val="0A0C18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83" name="Google Shape;183;p9"/>
              <p:cNvSpPr txBox="1"/>
              <p:nvPr/>
            </p:nvSpPr>
            <p:spPr>
              <a:xfrm>
                <a:off x="1047750" y="3667125"/>
                <a:ext cx="3238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E8EAF6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Executes Terraform plan</a:t>
                </a:r>
                <a:endParaRPr b="1" sz="12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4B527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dry-run first · human-gated</a:t>
                </a:r>
                <a:endParaRPr sz="900">
                  <a:solidFill>
                    <a:srgbClr val="4B527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184" name="Google Shape;184;p9"/>
            <p:cNvGrpSpPr/>
            <p:nvPr/>
          </p:nvGrpSpPr>
          <p:grpSpPr>
            <a:xfrm>
              <a:off x="4735830" y="3571875"/>
              <a:ext cx="3905400" cy="952500"/>
              <a:chOff x="4735830" y="3571875"/>
              <a:chExt cx="3905400" cy="952500"/>
            </a:xfrm>
          </p:grpSpPr>
          <p:sp>
            <p:nvSpPr>
              <p:cNvPr id="185" name="Google Shape;185;p9"/>
              <p:cNvSpPr/>
              <p:nvPr/>
            </p:nvSpPr>
            <p:spPr>
              <a:xfrm>
                <a:off x="4735830" y="3571875"/>
                <a:ext cx="3905400" cy="952500"/>
              </a:xfrm>
              <a:prstGeom prst="roundRect">
                <a:avLst>
                  <a:gd fmla="val 8000" name="adj"/>
                </a:avLst>
              </a:prstGeom>
              <a:solidFill>
                <a:srgbClr val="0D1A0D"/>
              </a:solidFill>
              <a:ln cap="flat" cmpd="sng" w="9525">
                <a:solidFill>
                  <a:srgbClr val="7CC4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9"/>
              <p:cNvSpPr/>
              <p:nvPr/>
            </p:nvSpPr>
            <p:spPr>
              <a:xfrm>
                <a:off x="4888230" y="3724275"/>
                <a:ext cx="266700" cy="266700"/>
              </a:xfrm>
              <a:prstGeom prst="ellipse">
                <a:avLst/>
              </a:prstGeom>
              <a:solidFill>
                <a:srgbClr val="7CC44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9"/>
              <p:cNvSpPr txBox="1"/>
              <p:nvPr/>
            </p:nvSpPr>
            <p:spPr>
              <a:xfrm>
                <a:off x="4888230" y="3724275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A0C1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06</a:t>
                </a:r>
                <a:endParaRPr b="1" sz="1000">
                  <a:solidFill>
                    <a:srgbClr val="0A0C18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88" name="Google Shape;188;p9"/>
              <p:cNvSpPr txBox="1"/>
              <p:nvPr/>
            </p:nvSpPr>
            <p:spPr>
              <a:xfrm>
                <a:off x="5280660" y="3667125"/>
                <a:ext cx="3238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E8EAF6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Confirms + audit logs</a:t>
                </a:r>
                <a:endParaRPr b="1" sz="12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4B527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3/3 actions confirmed · loop closed</a:t>
                </a:r>
                <a:endParaRPr sz="900">
                  <a:solidFill>
                    <a:srgbClr val="4B527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sp>
        <p:nvSpPr>
          <p:cNvPr id="189" name="Google Shape;189;p9"/>
          <p:cNvSpPr/>
          <p:nvPr/>
        </p:nvSpPr>
        <p:spPr>
          <a:xfrm>
            <a:off x="274320" y="4892040"/>
            <a:ext cx="6858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Papaya + Kiwi  ·  papaya.kiwi  ·  @PapayaKiwiSOC  ·  BSides South Florida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8046720" y="4892040"/>
            <a:ext cx="822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07 / 14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10"/>
          <p:cNvGrpSpPr/>
          <p:nvPr/>
        </p:nvGrpSpPr>
        <p:grpSpPr>
          <a:xfrm>
            <a:off x="502920" y="274320"/>
            <a:ext cx="8138100" cy="666444"/>
            <a:chOff x="502920" y="274320"/>
            <a:chExt cx="8138100" cy="666444"/>
          </a:xfrm>
        </p:grpSpPr>
        <p:sp>
          <p:nvSpPr>
            <p:cNvPr id="197" name="Google Shape;197;p10"/>
            <p:cNvSpPr txBox="1"/>
            <p:nvPr/>
          </p:nvSpPr>
          <p:spPr>
            <a:xfrm>
              <a:off x="502920" y="274320"/>
              <a:ext cx="81381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4B5270"/>
                  </a:solidFill>
                  <a:latin typeface="Consolas"/>
                  <a:ea typeface="Consolas"/>
                  <a:cs typeface="Consolas"/>
                  <a:sym typeface="Consolas"/>
                </a:rPr>
                <a:t>THREAT RESPONSE SIMULATION · TERMINAL SESSION</a:t>
              </a:r>
              <a:endParaRPr sz="9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98" name="Google Shape;198;p10"/>
            <p:cNvSpPr txBox="1"/>
            <p:nvPr/>
          </p:nvSpPr>
          <p:spPr>
            <a:xfrm>
              <a:off x="502920" y="512064"/>
              <a:ext cx="81381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From </a:t>
              </a:r>
              <a:r>
                <a:rPr b="1" lang="en-US" sz="2800">
                  <a:solidFill>
                    <a:srgbClr val="4DD9E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Prompt</a:t>
              </a:r>
              <a:r>
                <a:rPr b="1" lang="en-US" sz="280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to </a:t>
              </a:r>
              <a:r>
                <a:rPr b="1" lang="en-US" sz="2800">
                  <a:solidFill>
                    <a:srgbClr val="7CC44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Resolution</a:t>
              </a:r>
              <a:r>
                <a:rPr b="1" lang="en-US" sz="280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.</a:t>
              </a:r>
              <a:endParaRPr b="1" sz="280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199" name="Google Shape;199;p10"/>
          <p:cNvGrpSpPr/>
          <p:nvPr/>
        </p:nvGrpSpPr>
        <p:grpSpPr>
          <a:xfrm>
            <a:off x="502920" y="1143000"/>
            <a:ext cx="8138100" cy="3333900"/>
            <a:chOff x="502920" y="1143000"/>
            <a:chExt cx="8138100" cy="3333900"/>
          </a:xfrm>
        </p:grpSpPr>
        <p:sp>
          <p:nvSpPr>
            <p:cNvPr id="200" name="Google Shape;200;p10"/>
            <p:cNvSpPr/>
            <p:nvPr/>
          </p:nvSpPr>
          <p:spPr>
            <a:xfrm>
              <a:off x="502920" y="1143000"/>
              <a:ext cx="8138100" cy="3333900"/>
            </a:xfrm>
            <a:prstGeom prst="roundRect">
              <a:avLst>
                <a:gd fmla="val 2285" name="adj"/>
              </a:avLst>
            </a:prstGeom>
            <a:solidFill>
              <a:srgbClr val="0C0E1E"/>
            </a:solidFill>
            <a:ln cap="flat" cmpd="sng" w="19050">
              <a:solidFill>
                <a:srgbClr val="2E33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0"/>
            <p:cNvSpPr/>
            <p:nvPr/>
          </p:nvSpPr>
          <p:spPr>
            <a:xfrm>
              <a:off x="657225" y="1276350"/>
              <a:ext cx="114300" cy="114300"/>
            </a:xfrm>
            <a:prstGeom prst="ellipse">
              <a:avLst/>
            </a:prstGeom>
            <a:solidFill>
              <a:srgbClr val="FF5F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0"/>
            <p:cNvSpPr/>
            <p:nvPr/>
          </p:nvSpPr>
          <p:spPr>
            <a:xfrm>
              <a:off x="847725" y="1276350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0"/>
            <p:cNvSpPr/>
            <p:nvPr/>
          </p:nvSpPr>
          <p:spPr>
            <a:xfrm>
              <a:off x="1038225" y="1276350"/>
              <a:ext cx="114300" cy="114300"/>
            </a:xfrm>
            <a:prstGeom prst="ellipse">
              <a:avLst/>
            </a:prstGeom>
            <a:solidFill>
              <a:srgbClr val="28CA4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0"/>
            <p:cNvSpPr txBox="1"/>
            <p:nvPr/>
          </p:nvSpPr>
          <p:spPr>
            <a:xfrm>
              <a:off x="3108960" y="1247775"/>
              <a:ext cx="2926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4B5270"/>
                  </a:solidFill>
                  <a:latin typeface="Consolas"/>
                  <a:ea typeface="Consolas"/>
                  <a:cs typeface="Consolas"/>
                  <a:sym typeface="Consolas"/>
                </a:rPr>
                <a:t>papaya-kiwi — bash</a:t>
              </a:r>
              <a:endParaRPr sz="8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05" name="Google Shape;205;p10"/>
            <p:cNvCxnSpPr/>
            <p:nvPr/>
          </p:nvCxnSpPr>
          <p:spPr>
            <a:xfrm>
              <a:off x="502920" y="1476375"/>
              <a:ext cx="81381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2E335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6" name="Google Shape;206;p10"/>
            <p:cNvSpPr txBox="1"/>
            <p:nvPr/>
          </p:nvSpPr>
          <p:spPr>
            <a:xfrm>
              <a:off x="666750" y="1619250"/>
              <a:ext cx="7810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DD9E0"/>
                  </a:solidFill>
                  <a:latin typeface="Consolas"/>
                  <a:ea typeface="Consolas"/>
                  <a:cs typeface="Consolas"/>
                  <a:sym typeface="Consolas"/>
                </a:rPr>
                <a:t>&gt; scan this container image and remediate any critical CVEs</a:t>
              </a:r>
              <a:endParaRPr b="1" sz="1000">
                <a:solidFill>
                  <a:srgbClr val="4DD9E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8B5E"/>
                  </a:solidFill>
                  <a:latin typeface="Consolas"/>
                  <a:ea typeface="Consolas"/>
                  <a:cs typeface="Consolas"/>
                  <a:sym typeface="Consolas"/>
                </a:rPr>
                <a:t>PAPAYA: </a:t>
              </a:r>
              <a:r>
                <a:rPr lang="en-US" sz="10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rPr>
                <a:t>Got it. Running Docker Image Scan.yml via Kiwi.</a:t>
              </a:r>
              <a:endParaRPr sz="10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7CC440"/>
                  </a:solidFill>
                  <a:latin typeface="Consolas"/>
                  <a:ea typeface="Consolas"/>
                  <a:cs typeface="Consolas"/>
                  <a:sym typeface="Consolas"/>
                </a:rPr>
                <a:t>KIWI: </a:t>
              </a:r>
              <a:r>
                <a:rPr lang="en-US" sz="10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rPr>
                <a:t>Dispatching workflow · workflow_id: 12849237</a:t>
              </a:r>
              <a:endParaRPr sz="10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7CC440"/>
                  </a:solidFill>
                  <a:latin typeface="Consolas"/>
                  <a:ea typeface="Consolas"/>
                  <a:cs typeface="Consolas"/>
                  <a:sym typeface="Consolas"/>
                </a:rPr>
                <a:t>[SCAN] Trivy: scanning papaya-kiwi/api:latest</a:t>
              </a:r>
              <a:endParaRPr b="1" sz="10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F4D6A"/>
                  </a:solidFill>
                  <a:latin typeface="Consolas"/>
                  <a:ea typeface="Consolas"/>
                  <a:cs typeface="Consolas"/>
                  <a:sym typeface="Consolas"/>
                </a:rPr>
                <a:t>[CVE] CRITICAL CVE-2024-1234 openssl 3.0.2 → fixed in 3.0.7</a:t>
              </a:r>
              <a:endParaRPr sz="1000">
                <a:solidFill>
                  <a:srgbClr val="FF4D6A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F4D6A"/>
                  </a:solidFill>
                  <a:latin typeface="Consolas"/>
                  <a:ea typeface="Consolas"/>
                  <a:cs typeface="Consolas"/>
                  <a:sym typeface="Consolas"/>
                </a:rPr>
                <a:t>[CVE] CRITICAL CVE-2024-5678 libssl → no fix available</a:t>
              </a:r>
              <a:endParaRPr sz="1000">
                <a:solidFill>
                  <a:srgbClr val="FF4D6A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5C842"/>
                  </a:solidFill>
                  <a:latin typeface="Consolas"/>
                  <a:ea typeface="Consolas"/>
                  <a:cs typeface="Consolas"/>
                  <a:sym typeface="Consolas"/>
                </a:rPr>
                <a:t>[CVE] HIGH CVE-2023-9999 curl → fixed in 8.4.0</a:t>
              </a:r>
              <a:endParaRPr sz="1000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8B5E"/>
                  </a:solidFill>
                  <a:latin typeface="Consolas"/>
                  <a:ea typeface="Consolas"/>
                  <a:cs typeface="Consolas"/>
                  <a:sym typeface="Consolas"/>
                </a:rPr>
                <a:t>PAPAYA: </a:t>
              </a:r>
              <a:r>
                <a:rPr lang="en-US" sz="10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rPr>
                <a:t>Two critical CVEs found. Say 'remediate' to patch openssl.</a:t>
              </a:r>
              <a:endParaRPr sz="10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DD9E0"/>
                  </a:solidFill>
                  <a:latin typeface="Consolas"/>
                  <a:ea typeface="Consolas"/>
                  <a:cs typeface="Consolas"/>
                  <a:sym typeface="Consolas"/>
                </a:rPr>
                <a:t>&gt; remediate</a:t>
              </a:r>
              <a:endParaRPr b="1" sz="1000">
                <a:solidFill>
                  <a:srgbClr val="4DD9E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7CC440"/>
                  </a:solidFill>
                  <a:latin typeface="Consolas"/>
                  <a:ea typeface="Consolas"/>
                  <a:cs typeface="Consolas"/>
                  <a:sym typeface="Consolas"/>
                </a:rPr>
                <a:t>KIWI: </a:t>
              </a:r>
              <a:r>
                <a:rPr lang="en-US" sz="10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rPr>
                <a:t>Executing: update base image → openssl 3.0.7</a:t>
              </a:r>
              <a:endParaRPr sz="10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7CC440"/>
                  </a:solidFill>
                  <a:latin typeface="Consolas"/>
                  <a:ea typeface="Consolas"/>
                  <a:cs typeface="Consolas"/>
                  <a:sym typeface="Consolas"/>
                </a:rPr>
                <a:t>KIWI: </a:t>
              </a:r>
              <a:r>
                <a:rPr lang="en-US" sz="10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rPr>
                <a:t>✓ CRITICAL CVE-2024-1234 resolved · image pushed</a:t>
              </a:r>
              <a:endParaRPr sz="10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7CC440"/>
                  </a:solidFill>
                  <a:latin typeface="Consolas"/>
                  <a:ea typeface="Consolas"/>
                  <a:cs typeface="Consolas"/>
                  <a:sym typeface="Consolas"/>
                </a:rPr>
                <a:t>KIWI: Remediation complete · 1/1 actionable CVEs resolved</a:t>
              </a:r>
              <a:endParaRPr b="1" sz="10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07" name="Google Shape;207;p10"/>
          <p:cNvSpPr/>
          <p:nvPr/>
        </p:nvSpPr>
        <p:spPr>
          <a:xfrm>
            <a:off x="274320" y="4892040"/>
            <a:ext cx="68580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Papaya + Kiwi · papaya.kiwi · @PapayaKiwiSOC · BSides South Florida</a:t>
            </a:r>
            <a:endParaRPr b="0" i="0" sz="750">
              <a:solidFill>
                <a:srgbClr val="2E33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8046720" y="4892040"/>
            <a:ext cx="8229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08 / 14</a:t>
            </a:r>
            <a:endParaRPr b="0" i="0" sz="750">
              <a:solidFill>
                <a:srgbClr val="2E33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/>
          <p:nvPr/>
        </p:nvSpPr>
        <p:spPr>
          <a:xfrm>
            <a:off x="502920" y="274320"/>
            <a:ext cx="8138100" cy="20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98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WHAT MAKES IT WORK · THE HANDOFF SCHEMA</a:t>
            </a:r>
            <a:endParaRPr b="0" sz="698">
              <a:solidFill>
                <a:srgbClr val="4B527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502920" y="512064"/>
            <a:ext cx="81381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rPr>
              <a:t>Free-form text is a finding.</a:t>
            </a:r>
            <a:endParaRPr b="1" sz="2000">
              <a:solidFill>
                <a:srgbClr val="E8EAF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CC440"/>
                </a:solidFill>
                <a:latin typeface="Trebuchet MS"/>
                <a:ea typeface="Trebuchet MS"/>
                <a:cs typeface="Trebuchet MS"/>
                <a:sym typeface="Trebuchet MS"/>
              </a:rPr>
              <a:t>Validated JSON is a handoff.</a:t>
            </a:r>
            <a:endParaRPr b="1" sz="2000">
              <a:solidFill>
                <a:srgbClr val="7CC44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502920" y="1428750"/>
            <a:ext cx="3810000" cy="2952900"/>
          </a:xfrm>
          <a:prstGeom prst="roundRect">
            <a:avLst>
              <a:gd fmla="val 3870" name="adj"/>
            </a:avLst>
          </a:prstGeom>
          <a:solidFill>
            <a:srgbClr val="1A0808">
              <a:alpha val="50000"/>
            </a:srgbClr>
          </a:solidFill>
          <a:ln cap="flat" cmpd="sng" w="19050">
            <a:solidFill>
              <a:srgbClr val="FF4D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693420" y="1619250"/>
            <a:ext cx="342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4D6A"/>
                </a:solidFill>
                <a:latin typeface="Consolas"/>
                <a:ea typeface="Consolas"/>
                <a:cs typeface="Consolas"/>
                <a:sym typeface="Consolas"/>
              </a:rPr>
              <a:t>WITHOUT A SCHEMA</a:t>
            </a:r>
            <a:endParaRPr b="1" sz="1100">
              <a:solidFill>
                <a:srgbClr val="FF4D6A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" name="Google Shape;218;p11"/>
          <p:cNvSpPr txBox="1"/>
          <p:nvPr/>
        </p:nvSpPr>
        <p:spPr>
          <a:xfrm>
            <a:off x="693420" y="2095500"/>
            <a:ext cx="34290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4D6A"/>
                </a:solidFill>
                <a:latin typeface="Consolas"/>
                <a:ea typeface="Consolas"/>
                <a:cs typeface="Consolas"/>
                <a:sym typeface="Consolas"/>
              </a:rPr>
              <a:t>✗ Agent generates free-form text</a:t>
            </a:r>
            <a:endParaRPr sz="1100">
              <a:solidFill>
                <a:srgbClr val="FF4D6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4D6A"/>
                </a:solidFill>
                <a:latin typeface="Consolas"/>
                <a:ea typeface="Consolas"/>
                <a:cs typeface="Consolas"/>
                <a:sym typeface="Consolas"/>
              </a:rPr>
              <a:t>✗ Another agent tries to parse it</a:t>
            </a:r>
            <a:endParaRPr sz="1100">
              <a:solidFill>
                <a:srgbClr val="FF4D6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4D6A"/>
                </a:solidFill>
                <a:latin typeface="Consolas"/>
                <a:ea typeface="Consolas"/>
                <a:cs typeface="Consolas"/>
                <a:sym typeface="Consolas"/>
              </a:rPr>
              <a:t>✗ No guaranteed structure</a:t>
            </a:r>
            <a:endParaRPr sz="1100">
              <a:solidFill>
                <a:srgbClr val="FF4D6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4D6A"/>
                </a:solidFill>
                <a:latin typeface="Consolas"/>
                <a:ea typeface="Consolas"/>
                <a:cs typeface="Consolas"/>
                <a:sym typeface="Consolas"/>
              </a:rPr>
              <a:t>✗ Cannot be validated or audited</a:t>
            </a:r>
            <a:endParaRPr sz="1100">
              <a:solidFill>
                <a:srgbClr val="FF4D6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4D6A"/>
                </a:solidFill>
                <a:latin typeface="Consolas"/>
                <a:ea typeface="Consolas"/>
                <a:cs typeface="Consolas"/>
                <a:sym typeface="Consolas"/>
              </a:rPr>
              <a:t>✗ "What would you like to do now?"</a:t>
            </a:r>
            <a:endParaRPr sz="1100">
              <a:solidFill>
                <a:srgbClr val="FF4D6A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4545330" y="1428750"/>
            <a:ext cx="4095900" cy="2952900"/>
          </a:xfrm>
          <a:prstGeom prst="roundRect">
            <a:avLst>
              <a:gd fmla="val 3870" name="adj"/>
            </a:avLst>
          </a:prstGeom>
          <a:solidFill>
            <a:srgbClr val="0C0E1E"/>
          </a:solidFill>
          <a:ln cap="flat" cmpd="sng" w="19050">
            <a:solidFill>
              <a:srgbClr val="F2A7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4735830" y="1619250"/>
            <a:ext cx="3714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2A7C3"/>
                </a:solidFill>
                <a:latin typeface="Consolas"/>
                <a:ea typeface="Consolas"/>
                <a:cs typeface="Consolas"/>
                <a:sym typeface="Consolas"/>
              </a:rPr>
              <a:t>WITH HANDOFF SCHEMA</a:t>
            </a:r>
            <a:endParaRPr b="1" sz="1100">
              <a:solidFill>
                <a:srgbClr val="F2A7C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4735830" y="2095500"/>
            <a:ext cx="37149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rPr>
              <a:t>{ "agent_source": "papaya",</a:t>
            </a:r>
            <a:endParaRPr sz="1150">
              <a:solidFill>
                <a:srgbClr val="E8EAF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rPr>
              <a:t>"agent_target": "kiwi",</a:t>
            </a:r>
            <a:endParaRPr sz="1150">
              <a:solidFill>
                <a:srgbClr val="E8EAF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rPr>
              <a:t>"workflow": "Docker Image Scan",</a:t>
            </a:r>
            <a:endParaRPr sz="1150">
              <a:solidFill>
                <a:srgbClr val="7CC44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F4D6A"/>
                </a:solidFill>
                <a:latin typeface="Consolas"/>
                <a:ea typeface="Consolas"/>
                <a:cs typeface="Consolas"/>
                <a:sym typeface="Consolas"/>
              </a:rPr>
              <a:t>"severity": "CRITICAL",</a:t>
            </a:r>
            <a:endParaRPr sz="1150">
              <a:solidFill>
                <a:srgbClr val="FF4D6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rPr>
              <a:t>"auto_approved": true,</a:t>
            </a:r>
            <a:endParaRPr sz="1150">
              <a:solidFill>
                <a:srgbClr val="7CC44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rPr>
              <a:t>"requires_human": false }</a:t>
            </a:r>
            <a:endParaRPr sz="1150">
              <a:solidFill>
                <a:srgbClr val="F5C84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502920" y="4572000"/>
            <a:ext cx="83760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63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patent-pending architecture · Patent App. No. 64/022,497</a:t>
            </a:r>
            <a:endParaRPr b="0" sz="563">
              <a:solidFill>
                <a:srgbClr val="4B527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274320" y="4892040"/>
            <a:ext cx="68580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81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Papaya + Kiwi · papaya.kiwi · @PapayaKiwiSOC · BSides South Florida</a:t>
            </a:r>
            <a:endParaRPr b="0" sz="581">
              <a:solidFill>
                <a:srgbClr val="2E33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8046720" y="4892040"/>
            <a:ext cx="8229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81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09 / 14</a:t>
            </a:r>
            <a:endParaRPr b="0" sz="581">
              <a:solidFill>
                <a:srgbClr val="2E33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/>
          <p:nvPr/>
        </p:nvSpPr>
        <p:spPr>
          <a:xfrm>
            <a:off x="502920" y="274320"/>
            <a:ext cx="8138100" cy="20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THE ARCHITECTURE · END TO END</a:t>
            </a:r>
            <a:endParaRPr b="0" sz="900">
              <a:solidFill>
                <a:srgbClr val="4B527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502920" y="512064"/>
            <a:ext cx="8138100" cy="49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91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rPr>
              <a:t>Prompt → Advise → Execute → Confirm.</a:t>
            </a:r>
            <a:endParaRPr b="1" sz="2400">
              <a:solidFill>
                <a:srgbClr val="E8EAF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32" name="Google Shape;232;p12"/>
          <p:cNvGrpSpPr/>
          <p:nvPr/>
        </p:nvGrpSpPr>
        <p:grpSpPr>
          <a:xfrm>
            <a:off x="238125" y="1333500"/>
            <a:ext cx="8667600" cy="2667000"/>
            <a:chOff x="238125" y="1333500"/>
            <a:chExt cx="8667600" cy="2667000"/>
          </a:xfrm>
        </p:grpSpPr>
        <p:sp>
          <p:nvSpPr>
            <p:cNvPr id="233" name="Google Shape;233;p12"/>
            <p:cNvSpPr/>
            <p:nvPr/>
          </p:nvSpPr>
          <p:spPr>
            <a:xfrm>
              <a:off x="238125" y="1333500"/>
              <a:ext cx="1619100" cy="2667000"/>
            </a:xfrm>
            <a:prstGeom prst="roundRect">
              <a:avLst>
                <a:gd fmla="val 4705" name="adj"/>
              </a:avLst>
            </a:prstGeom>
            <a:solidFill>
              <a:srgbClr val="0A1A2A"/>
            </a:solidFill>
            <a:ln cap="flat" cmpd="sng" w="9525">
              <a:solidFill>
                <a:srgbClr val="4DD9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2"/>
            <p:cNvSpPr txBox="1"/>
            <p:nvPr/>
          </p:nvSpPr>
          <p:spPr>
            <a:xfrm>
              <a:off x="381000" y="1428750"/>
              <a:ext cx="133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4DD9E0"/>
                  </a:solidFill>
                  <a:latin typeface="Consolas"/>
                  <a:ea typeface="Consolas"/>
                  <a:cs typeface="Consolas"/>
                  <a:sym typeface="Consolas"/>
                </a:rPr>
                <a:t>YOUR PROMPT</a:t>
              </a:r>
              <a:endParaRPr b="1" sz="900">
                <a:solidFill>
                  <a:srgbClr val="4DD9E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35" name="Google Shape;235;p12"/>
            <p:cNvSpPr txBox="1"/>
            <p:nvPr/>
          </p:nvSpPr>
          <p:spPr>
            <a:xfrm>
              <a:off x="381000" y="1714500"/>
              <a:ext cx="1333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"scan this image and fix critical CVEs"</a:t>
              </a:r>
              <a:endParaRPr i="1" sz="110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1762125" y="25717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2"/>
            <p:cNvSpPr txBox="1"/>
            <p:nvPr/>
          </p:nvSpPr>
          <p:spPr>
            <a:xfrm>
              <a:off x="1762125" y="257175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90">
                  <a:solidFill>
                    <a:srgbClr val="4B527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→</a:t>
              </a:r>
              <a:endParaRPr b="1" sz="1190">
                <a:solidFill>
                  <a:srgbClr val="4B527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38" name="Google Shape;238;p12"/>
            <p:cNvSpPr/>
            <p:nvPr/>
          </p:nvSpPr>
          <p:spPr>
            <a:xfrm>
              <a:off x="2000250" y="1333500"/>
              <a:ext cx="1619100" cy="2667000"/>
            </a:xfrm>
            <a:prstGeom prst="roundRect">
              <a:avLst>
                <a:gd fmla="val 4705" name="adj"/>
              </a:avLst>
            </a:prstGeom>
            <a:solidFill>
              <a:srgbClr val="1A0E08"/>
            </a:solidFill>
            <a:ln cap="flat" cmpd="sng" w="9525">
              <a:solidFill>
                <a:srgbClr val="FF8B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2"/>
            <p:cNvSpPr txBox="1"/>
            <p:nvPr/>
          </p:nvSpPr>
          <p:spPr>
            <a:xfrm>
              <a:off x="2143125" y="1428750"/>
              <a:ext cx="133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F8B5E"/>
                  </a:solidFill>
                  <a:latin typeface="Consolas"/>
                  <a:ea typeface="Consolas"/>
                  <a:cs typeface="Consolas"/>
                  <a:sym typeface="Consolas"/>
                </a:rPr>
                <a:t>PAPAYA</a:t>
              </a:r>
              <a:endParaRPr b="1" sz="900">
                <a:solidFill>
                  <a:srgbClr val="FF8B5E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0" name="Google Shape;240;p12"/>
            <p:cNvSpPr txBox="1"/>
            <p:nvPr/>
          </p:nvSpPr>
          <p:spPr>
            <a:xfrm>
              <a:off x="2143125" y="1714500"/>
              <a:ext cx="1333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Interprets intent</a:t>
              </a:r>
              <a:endParaRPr sz="105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Suggests workflow</a:t>
              </a:r>
              <a:endParaRPr sz="105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Builds JSON handoff</a:t>
              </a:r>
              <a:endParaRPr sz="105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1" name="Google Shape;241;p12"/>
            <p:cNvSpPr/>
            <p:nvPr/>
          </p:nvSpPr>
          <p:spPr>
            <a:xfrm>
              <a:off x="3524250" y="25717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2"/>
            <p:cNvSpPr txBox="1"/>
            <p:nvPr/>
          </p:nvSpPr>
          <p:spPr>
            <a:xfrm>
              <a:off x="3524250" y="257175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90">
                  <a:solidFill>
                    <a:srgbClr val="4B527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→</a:t>
              </a:r>
              <a:endParaRPr b="1" sz="1190">
                <a:solidFill>
                  <a:srgbClr val="4B527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3" name="Google Shape;243;p12"/>
            <p:cNvSpPr/>
            <p:nvPr/>
          </p:nvSpPr>
          <p:spPr>
            <a:xfrm>
              <a:off x="3762375" y="1333500"/>
              <a:ext cx="1619100" cy="2667000"/>
            </a:xfrm>
            <a:prstGeom prst="roundRect">
              <a:avLst>
                <a:gd fmla="val 4705" name="adj"/>
              </a:avLst>
            </a:prstGeom>
            <a:solidFill>
              <a:srgbClr val="1A1020"/>
            </a:solidFill>
            <a:ln cap="flat" cmpd="sng" w="9525">
              <a:solidFill>
                <a:srgbClr val="F2A7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2"/>
            <p:cNvSpPr txBox="1"/>
            <p:nvPr/>
          </p:nvSpPr>
          <p:spPr>
            <a:xfrm>
              <a:off x="3905250" y="1428750"/>
              <a:ext cx="133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2A7C3"/>
                  </a:solidFill>
                  <a:latin typeface="Consolas"/>
                  <a:ea typeface="Consolas"/>
                  <a:cs typeface="Consolas"/>
                  <a:sym typeface="Consolas"/>
                </a:rPr>
                <a:t>JSON HANDOFF</a:t>
              </a:r>
              <a:endParaRPr b="1" sz="900">
                <a:solidFill>
                  <a:srgbClr val="F2A7C3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5" name="Google Shape;245;p12"/>
            <p:cNvSpPr txBox="1"/>
            <p:nvPr/>
          </p:nvSpPr>
          <p:spPr>
            <a:xfrm>
              <a:off x="3905250" y="1714500"/>
              <a:ext cx="1333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Validated schema</a:t>
              </a:r>
              <a:endParaRPr sz="105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agent_source · kiwi</a:t>
              </a:r>
              <a:endParaRPr sz="105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workflow · CVE scan</a:t>
              </a:r>
              <a:endParaRPr sz="105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6" name="Google Shape;246;p12"/>
            <p:cNvSpPr/>
            <p:nvPr/>
          </p:nvSpPr>
          <p:spPr>
            <a:xfrm>
              <a:off x="5286375" y="25717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2"/>
            <p:cNvSpPr txBox="1"/>
            <p:nvPr/>
          </p:nvSpPr>
          <p:spPr>
            <a:xfrm>
              <a:off x="5286375" y="257175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90">
                  <a:solidFill>
                    <a:srgbClr val="4B527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→</a:t>
              </a:r>
              <a:endParaRPr b="1" sz="1190">
                <a:solidFill>
                  <a:srgbClr val="4B527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8" name="Google Shape;248;p12"/>
            <p:cNvSpPr/>
            <p:nvPr/>
          </p:nvSpPr>
          <p:spPr>
            <a:xfrm>
              <a:off x="5524500" y="1333500"/>
              <a:ext cx="1619100" cy="2667000"/>
            </a:xfrm>
            <a:prstGeom prst="roundRect">
              <a:avLst>
                <a:gd fmla="val 4705" name="adj"/>
              </a:avLst>
            </a:prstGeom>
            <a:solidFill>
              <a:srgbClr val="0D1A0D"/>
            </a:solidFill>
            <a:ln cap="flat" cmpd="sng" w="9525">
              <a:solidFill>
                <a:srgbClr val="7CC4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2"/>
            <p:cNvSpPr txBox="1"/>
            <p:nvPr/>
          </p:nvSpPr>
          <p:spPr>
            <a:xfrm>
              <a:off x="5667375" y="1428750"/>
              <a:ext cx="133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7CC440"/>
                  </a:solidFill>
                  <a:latin typeface="Consolas"/>
                  <a:ea typeface="Consolas"/>
                  <a:cs typeface="Consolas"/>
                  <a:sym typeface="Consolas"/>
                </a:rPr>
                <a:t>KIWI</a:t>
              </a:r>
              <a:endParaRPr b="1" sz="9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50" name="Google Shape;250;p12"/>
            <p:cNvSpPr txBox="1"/>
            <p:nvPr/>
          </p:nvSpPr>
          <p:spPr>
            <a:xfrm>
              <a:off x="5667375" y="1714500"/>
              <a:ext cx="1333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Dispatches workflow</a:t>
              </a:r>
              <a:endParaRPr sz="105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Monitors run</a:t>
              </a:r>
              <a:endParaRPr sz="105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Retrieves results</a:t>
              </a:r>
              <a:endParaRPr sz="105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51" name="Google Shape;251;p12"/>
            <p:cNvSpPr/>
            <p:nvPr/>
          </p:nvSpPr>
          <p:spPr>
            <a:xfrm>
              <a:off x="7048500" y="2571750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2"/>
            <p:cNvSpPr txBox="1"/>
            <p:nvPr/>
          </p:nvSpPr>
          <p:spPr>
            <a:xfrm>
              <a:off x="7048500" y="257175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90">
                  <a:solidFill>
                    <a:srgbClr val="4B527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→</a:t>
              </a:r>
              <a:endParaRPr b="1" sz="1190">
                <a:solidFill>
                  <a:srgbClr val="4B527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7286625" y="1333500"/>
              <a:ext cx="1619100" cy="2667000"/>
            </a:xfrm>
            <a:prstGeom prst="roundRect">
              <a:avLst>
                <a:gd fmla="val 4705" name="adj"/>
              </a:avLst>
            </a:prstGeom>
            <a:solidFill>
              <a:srgbClr val="2C2414"/>
            </a:solidFill>
            <a:ln cap="flat" cmpd="sng" w="9525">
              <a:solidFill>
                <a:srgbClr val="F5C8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2"/>
            <p:cNvSpPr txBox="1"/>
            <p:nvPr/>
          </p:nvSpPr>
          <p:spPr>
            <a:xfrm>
              <a:off x="7429500" y="1428750"/>
              <a:ext cx="133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F5C842"/>
                  </a:solidFill>
                  <a:latin typeface="Consolas"/>
                  <a:ea typeface="Consolas"/>
                  <a:cs typeface="Consolas"/>
                  <a:sym typeface="Consolas"/>
                </a:rPr>
                <a:t>GITHUB ACTIONS</a:t>
              </a:r>
              <a:endParaRPr b="1" sz="900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55" name="Google Shape;255;p12"/>
            <p:cNvSpPr txBox="1"/>
            <p:nvPr/>
          </p:nvSpPr>
          <p:spPr>
            <a:xfrm>
              <a:off x="7429500" y="1714500"/>
              <a:ext cx="1333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Docker Image Scan</a:t>
              </a:r>
              <a:endParaRPr sz="105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Checkov · Prowler</a:t>
              </a:r>
              <a:endParaRPr sz="105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security-scan.yml</a:t>
              </a:r>
              <a:endParaRPr sz="105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56" name="Google Shape;256;p12"/>
          <p:cNvSpPr/>
          <p:nvPr/>
        </p:nvSpPr>
        <p:spPr>
          <a:xfrm>
            <a:off x="238125" y="4238625"/>
            <a:ext cx="8667900" cy="381000"/>
          </a:xfrm>
          <a:prstGeom prst="roundRect">
            <a:avLst>
              <a:gd fmla="val 20000" name="adj"/>
            </a:avLst>
          </a:prstGeom>
          <a:solidFill>
            <a:srgbClr val="12152A"/>
          </a:solidFill>
          <a:ln cap="flat" cmpd="sng" w="14300">
            <a:solidFill>
              <a:srgbClr val="7CC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381000" y="4238625"/>
            <a:ext cx="952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rPr>
              <a:t>↻ CONFIRM:</a:t>
            </a:r>
            <a:endParaRPr b="1" sz="1000">
              <a:solidFill>
                <a:srgbClr val="7CC44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1381125" y="4238625"/>
            <a:ext cx="7334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rPr>
              <a:t>Kiwi confirms actions · audit log generated · loop closed · Papaya notifies</a:t>
            </a:r>
            <a:endParaRPr b="0" sz="1050">
              <a:solidFill>
                <a:srgbClr val="E8EAF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274320" y="4892040"/>
            <a:ext cx="68580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1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Papaya + Kiwi · papaya.kiwi · @PapayaKiwiSOC · BSides South Florida</a:t>
            </a:r>
            <a:endParaRPr b="0" sz="750">
              <a:solidFill>
                <a:srgbClr val="2E33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8046720" y="4892040"/>
            <a:ext cx="8229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914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10 / 14</a:t>
            </a:r>
            <a:endParaRPr b="0" sz="750">
              <a:solidFill>
                <a:srgbClr val="2E33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18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"/>
          <p:cNvSpPr/>
          <p:nvPr/>
        </p:nvSpPr>
        <p:spPr>
          <a:xfrm>
            <a:off x="502920" y="274320"/>
            <a:ext cx="8138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THE CLOSED LOOP  ·  8 STEPS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502920" y="512064"/>
            <a:ext cx="8138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rPr>
              <a:t>Detect → Advise → Remediate → Confirm.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8" name="Google Shape;268;p13"/>
          <p:cNvGrpSpPr/>
          <p:nvPr/>
        </p:nvGrpSpPr>
        <p:grpSpPr>
          <a:xfrm>
            <a:off x="285750" y="1190625"/>
            <a:ext cx="4191000" cy="714300"/>
            <a:chOff x="285750" y="1190625"/>
            <a:chExt cx="4191000" cy="714300"/>
          </a:xfrm>
        </p:grpSpPr>
        <p:sp>
          <p:nvSpPr>
            <p:cNvPr id="269" name="Google Shape;269;p13"/>
            <p:cNvSpPr/>
            <p:nvPr/>
          </p:nvSpPr>
          <p:spPr>
            <a:xfrm>
              <a:off x="285750" y="1190625"/>
              <a:ext cx="4191000" cy="714300"/>
            </a:xfrm>
            <a:prstGeom prst="roundRect">
              <a:avLst>
                <a:gd fmla="val 10666" name="adj"/>
              </a:avLst>
            </a:prstGeom>
            <a:solidFill>
              <a:srgbClr val="0A1A2A"/>
            </a:solidFill>
            <a:ln cap="flat" cmpd="sng" w="9525">
              <a:solidFill>
                <a:srgbClr val="4DD9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3"/>
            <p:cNvSpPr/>
            <p:nvPr/>
          </p:nvSpPr>
          <p:spPr>
            <a:xfrm>
              <a:off x="447675" y="1376363"/>
              <a:ext cx="342900" cy="342900"/>
            </a:xfrm>
            <a:prstGeom prst="ellipse">
              <a:avLst/>
            </a:prstGeom>
            <a:solidFill>
              <a:srgbClr val="4DD9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3"/>
            <p:cNvSpPr txBox="1"/>
            <p:nvPr/>
          </p:nvSpPr>
          <p:spPr>
            <a:xfrm>
              <a:off x="447675" y="1376363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A0C18"/>
                  </a:solidFill>
                  <a:latin typeface="Consolas"/>
                  <a:ea typeface="Consolas"/>
                  <a:cs typeface="Consolas"/>
                  <a:sym typeface="Consolas"/>
                </a:rPr>
                <a:t>01</a:t>
              </a:r>
              <a:endParaRPr b="1" sz="1200">
                <a:solidFill>
                  <a:srgbClr val="0A0C1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72" name="Google Shape;272;p13"/>
            <p:cNvSpPr txBox="1"/>
            <p:nvPr/>
          </p:nvSpPr>
          <p:spPr>
            <a:xfrm>
              <a:off x="904875" y="1285875"/>
              <a:ext cx="2667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rPr>
                <a:t>You type a prompt</a:t>
              </a:r>
              <a:endParaRPr sz="11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73" name="Google Shape;273;p13"/>
            <p:cNvSpPr/>
            <p:nvPr/>
          </p:nvSpPr>
          <p:spPr>
            <a:xfrm>
              <a:off x="3619500" y="1447800"/>
              <a:ext cx="762000" cy="2001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4DD9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3"/>
            <p:cNvSpPr txBox="1"/>
            <p:nvPr/>
          </p:nvSpPr>
          <p:spPr>
            <a:xfrm>
              <a:off x="3619500" y="1447800"/>
              <a:ext cx="762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4DD9E0"/>
                  </a:solidFill>
                  <a:latin typeface="Consolas"/>
                  <a:ea typeface="Consolas"/>
                  <a:cs typeface="Consolas"/>
                  <a:sym typeface="Consolas"/>
                </a:rPr>
                <a:t>PAPAYA</a:t>
              </a:r>
              <a:endParaRPr sz="800">
                <a:solidFill>
                  <a:srgbClr val="4DD9E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75" name="Google Shape;275;p13"/>
          <p:cNvGrpSpPr/>
          <p:nvPr/>
        </p:nvGrpSpPr>
        <p:grpSpPr>
          <a:xfrm>
            <a:off x="4667250" y="1190625"/>
            <a:ext cx="4191000" cy="714300"/>
            <a:chOff x="4667250" y="1190625"/>
            <a:chExt cx="4191000" cy="714300"/>
          </a:xfrm>
        </p:grpSpPr>
        <p:sp>
          <p:nvSpPr>
            <p:cNvPr id="276" name="Google Shape;276;p13"/>
            <p:cNvSpPr/>
            <p:nvPr/>
          </p:nvSpPr>
          <p:spPr>
            <a:xfrm>
              <a:off x="4667250" y="1190625"/>
              <a:ext cx="4191000" cy="714300"/>
            </a:xfrm>
            <a:prstGeom prst="roundRect">
              <a:avLst>
                <a:gd fmla="val 10666" name="adj"/>
              </a:avLst>
            </a:prstGeom>
            <a:solidFill>
              <a:srgbClr val="1A0E08"/>
            </a:solidFill>
            <a:ln cap="flat" cmpd="sng" w="9525">
              <a:solidFill>
                <a:srgbClr val="FF8B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3"/>
            <p:cNvSpPr/>
            <p:nvPr/>
          </p:nvSpPr>
          <p:spPr>
            <a:xfrm>
              <a:off x="4829175" y="1376363"/>
              <a:ext cx="342900" cy="342900"/>
            </a:xfrm>
            <a:prstGeom prst="ellipse">
              <a:avLst/>
            </a:prstGeom>
            <a:solidFill>
              <a:srgbClr val="FF8B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3"/>
            <p:cNvSpPr txBox="1"/>
            <p:nvPr/>
          </p:nvSpPr>
          <p:spPr>
            <a:xfrm>
              <a:off x="4829175" y="1376363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A0C18"/>
                  </a:solidFill>
                  <a:latin typeface="Consolas"/>
                  <a:ea typeface="Consolas"/>
                  <a:cs typeface="Consolas"/>
                  <a:sym typeface="Consolas"/>
                </a:rPr>
                <a:t>02</a:t>
              </a:r>
              <a:endParaRPr b="1" sz="1200">
                <a:solidFill>
                  <a:srgbClr val="0A0C1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79" name="Google Shape;279;p13"/>
            <p:cNvSpPr txBox="1"/>
            <p:nvPr/>
          </p:nvSpPr>
          <p:spPr>
            <a:xfrm>
              <a:off x="5286375" y="1285875"/>
              <a:ext cx="2667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rPr>
                <a:t>Papaya interprets + suggests workflow</a:t>
              </a:r>
              <a:endParaRPr sz="11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8001000" y="1447800"/>
              <a:ext cx="762000" cy="2001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8B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3"/>
            <p:cNvSpPr txBox="1"/>
            <p:nvPr/>
          </p:nvSpPr>
          <p:spPr>
            <a:xfrm>
              <a:off x="8001000" y="1447800"/>
              <a:ext cx="762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FF8B5E"/>
                  </a:solidFill>
                  <a:latin typeface="Consolas"/>
                  <a:ea typeface="Consolas"/>
                  <a:cs typeface="Consolas"/>
                  <a:sym typeface="Consolas"/>
                </a:rPr>
                <a:t>PAPAYA</a:t>
              </a:r>
              <a:endParaRPr sz="800">
                <a:solidFill>
                  <a:srgbClr val="FF8B5E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82" name="Google Shape;282;p13"/>
          <p:cNvGrpSpPr/>
          <p:nvPr/>
        </p:nvGrpSpPr>
        <p:grpSpPr>
          <a:xfrm>
            <a:off x="285750" y="2047875"/>
            <a:ext cx="4191000" cy="714300"/>
            <a:chOff x="285750" y="2047875"/>
            <a:chExt cx="4191000" cy="714300"/>
          </a:xfrm>
        </p:grpSpPr>
        <p:sp>
          <p:nvSpPr>
            <p:cNvPr id="283" name="Google Shape;283;p13"/>
            <p:cNvSpPr/>
            <p:nvPr/>
          </p:nvSpPr>
          <p:spPr>
            <a:xfrm>
              <a:off x="285750" y="2047875"/>
              <a:ext cx="4191000" cy="714300"/>
            </a:xfrm>
            <a:prstGeom prst="roundRect">
              <a:avLst>
                <a:gd fmla="val 10666" name="adj"/>
              </a:avLst>
            </a:prstGeom>
            <a:solidFill>
              <a:srgbClr val="1A1020"/>
            </a:solidFill>
            <a:ln cap="flat" cmpd="sng" w="9525">
              <a:solidFill>
                <a:srgbClr val="F2A7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3"/>
            <p:cNvSpPr/>
            <p:nvPr/>
          </p:nvSpPr>
          <p:spPr>
            <a:xfrm>
              <a:off x="447675" y="2233613"/>
              <a:ext cx="342900" cy="342900"/>
            </a:xfrm>
            <a:prstGeom prst="ellipse">
              <a:avLst/>
            </a:prstGeom>
            <a:solidFill>
              <a:srgbClr val="F2A7C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3"/>
            <p:cNvSpPr txBox="1"/>
            <p:nvPr/>
          </p:nvSpPr>
          <p:spPr>
            <a:xfrm>
              <a:off x="447675" y="2233613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A0C18"/>
                  </a:solidFill>
                  <a:latin typeface="Consolas"/>
                  <a:ea typeface="Consolas"/>
                  <a:cs typeface="Consolas"/>
                  <a:sym typeface="Consolas"/>
                </a:rPr>
                <a:t>03</a:t>
              </a:r>
              <a:endParaRPr b="1" sz="1200">
                <a:solidFill>
                  <a:srgbClr val="0A0C1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86" name="Google Shape;286;p13"/>
            <p:cNvSpPr txBox="1"/>
            <p:nvPr/>
          </p:nvSpPr>
          <p:spPr>
            <a:xfrm>
              <a:off x="904875" y="2143125"/>
              <a:ext cx="2667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rPr>
                <a:t>JSON handoff schema fires</a:t>
              </a:r>
              <a:endParaRPr sz="11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87" name="Google Shape;287;p13"/>
            <p:cNvSpPr/>
            <p:nvPr/>
          </p:nvSpPr>
          <p:spPr>
            <a:xfrm>
              <a:off x="3619500" y="2305050"/>
              <a:ext cx="762000" cy="2001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2A7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3"/>
            <p:cNvSpPr txBox="1"/>
            <p:nvPr/>
          </p:nvSpPr>
          <p:spPr>
            <a:xfrm>
              <a:off x="3619500" y="2305050"/>
              <a:ext cx="762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F2A7C3"/>
                  </a:solidFill>
                  <a:latin typeface="Consolas"/>
                  <a:ea typeface="Consolas"/>
                  <a:cs typeface="Consolas"/>
                  <a:sym typeface="Consolas"/>
                </a:rPr>
                <a:t>SCHEMA</a:t>
              </a:r>
              <a:endParaRPr sz="800">
                <a:solidFill>
                  <a:srgbClr val="F2A7C3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89" name="Google Shape;289;p13"/>
          <p:cNvGrpSpPr/>
          <p:nvPr/>
        </p:nvGrpSpPr>
        <p:grpSpPr>
          <a:xfrm>
            <a:off x="4667250" y="2047875"/>
            <a:ext cx="4191000" cy="714300"/>
            <a:chOff x="4667250" y="2047875"/>
            <a:chExt cx="4191000" cy="714300"/>
          </a:xfrm>
        </p:grpSpPr>
        <p:sp>
          <p:nvSpPr>
            <p:cNvPr id="290" name="Google Shape;290;p13"/>
            <p:cNvSpPr/>
            <p:nvPr/>
          </p:nvSpPr>
          <p:spPr>
            <a:xfrm>
              <a:off x="4667250" y="2047875"/>
              <a:ext cx="4191000" cy="714300"/>
            </a:xfrm>
            <a:prstGeom prst="roundRect">
              <a:avLst>
                <a:gd fmla="val 10666" name="adj"/>
              </a:avLst>
            </a:prstGeom>
            <a:solidFill>
              <a:srgbClr val="0D1A0D"/>
            </a:solidFill>
            <a:ln cap="flat" cmpd="sng" w="9525">
              <a:solidFill>
                <a:srgbClr val="7CC4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3"/>
            <p:cNvSpPr/>
            <p:nvPr/>
          </p:nvSpPr>
          <p:spPr>
            <a:xfrm>
              <a:off x="4829175" y="2233613"/>
              <a:ext cx="342900" cy="342900"/>
            </a:xfrm>
            <a:prstGeom prst="ellipse">
              <a:avLst/>
            </a:prstGeom>
            <a:solidFill>
              <a:srgbClr val="7CC4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3"/>
            <p:cNvSpPr txBox="1"/>
            <p:nvPr/>
          </p:nvSpPr>
          <p:spPr>
            <a:xfrm>
              <a:off x="4829175" y="2233613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A0C18"/>
                  </a:solidFill>
                  <a:latin typeface="Consolas"/>
                  <a:ea typeface="Consolas"/>
                  <a:cs typeface="Consolas"/>
                  <a:sym typeface="Consolas"/>
                </a:rPr>
                <a:t>04</a:t>
              </a:r>
              <a:endParaRPr b="1" sz="1200">
                <a:solidFill>
                  <a:srgbClr val="0A0C1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93" name="Google Shape;293;p13"/>
            <p:cNvSpPr txBox="1"/>
            <p:nvPr/>
          </p:nvSpPr>
          <p:spPr>
            <a:xfrm>
              <a:off x="5286375" y="2143125"/>
              <a:ext cx="2667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rPr>
                <a:t>Kiwi dispatches GitHub Actions workflow</a:t>
              </a:r>
              <a:endParaRPr sz="11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94" name="Google Shape;294;p13"/>
            <p:cNvSpPr/>
            <p:nvPr/>
          </p:nvSpPr>
          <p:spPr>
            <a:xfrm>
              <a:off x="8001000" y="2305050"/>
              <a:ext cx="762000" cy="2001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7CC4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3"/>
            <p:cNvSpPr txBox="1"/>
            <p:nvPr/>
          </p:nvSpPr>
          <p:spPr>
            <a:xfrm>
              <a:off x="8001000" y="2305050"/>
              <a:ext cx="762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7CC440"/>
                  </a:solidFill>
                  <a:latin typeface="Consolas"/>
                  <a:ea typeface="Consolas"/>
                  <a:cs typeface="Consolas"/>
                  <a:sym typeface="Consolas"/>
                </a:rPr>
                <a:t>KIWI</a:t>
              </a:r>
              <a:endParaRPr sz="8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96" name="Google Shape;296;p13"/>
          <p:cNvGrpSpPr/>
          <p:nvPr/>
        </p:nvGrpSpPr>
        <p:grpSpPr>
          <a:xfrm>
            <a:off x="285750" y="2905125"/>
            <a:ext cx="4191000" cy="714300"/>
            <a:chOff x="285750" y="2905125"/>
            <a:chExt cx="4191000" cy="714300"/>
          </a:xfrm>
        </p:grpSpPr>
        <p:sp>
          <p:nvSpPr>
            <p:cNvPr id="297" name="Google Shape;297;p13"/>
            <p:cNvSpPr/>
            <p:nvPr/>
          </p:nvSpPr>
          <p:spPr>
            <a:xfrm>
              <a:off x="285750" y="2905125"/>
              <a:ext cx="4191000" cy="714300"/>
            </a:xfrm>
            <a:prstGeom prst="roundRect">
              <a:avLst>
                <a:gd fmla="val 10666" name="adj"/>
              </a:avLst>
            </a:prstGeom>
            <a:solidFill>
              <a:srgbClr val="2C2414"/>
            </a:solidFill>
            <a:ln cap="flat" cmpd="sng" w="9525">
              <a:solidFill>
                <a:srgbClr val="F5C8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447675" y="3090863"/>
              <a:ext cx="342900" cy="342900"/>
            </a:xfrm>
            <a:prstGeom prst="ellipse">
              <a:avLst/>
            </a:prstGeom>
            <a:solidFill>
              <a:srgbClr val="F5C84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3"/>
            <p:cNvSpPr txBox="1"/>
            <p:nvPr/>
          </p:nvSpPr>
          <p:spPr>
            <a:xfrm>
              <a:off x="447675" y="3090863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A0C18"/>
                  </a:solidFill>
                  <a:latin typeface="Consolas"/>
                  <a:ea typeface="Consolas"/>
                  <a:cs typeface="Consolas"/>
                  <a:sym typeface="Consolas"/>
                </a:rPr>
                <a:t>05</a:t>
              </a:r>
              <a:endParaRPr b="1" sz="1200">
                <a:solidFill>
                  <a:srgbClr val="0A0C1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00" name="Google Shape;300;p13"/>
            <p:cNvSpPr txBox="1"/>
            <p:nvPr/>
          </p:nvSpPr>
          <p:spPr>
            <a:xfrm>
              <a:off x="904875" y="3000375"/>
              <a:ext cx="2667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rPr>
                <a:t>Pipeline runs scan + returns findings</a:t>
              </a:r>
              <a:endParaRPr sz="11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3619500" y="3162300"/>
              <a:ext cx="762000" cy="2001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5C8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3"/>
            <p:cNvSpPr txBox="1"/>
            <p:nvPr/>
          </p:nvSpPr>
          <p:spPr>
            <a:xfrm>
              <a:off x="3619500" y="3162300"/>
              <a:ext cx="762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F5C842"/>
                  </a:solidFill>
                  <a:latin typeface="Consolas"/>
                  <a:ea typeface="Consolas"/>
                  <a:cs typeface="Consolas"/>
                  <a:sym typeface="Consolas"/>
                </a:rPr>
                <a:t>KIWI</a:t>
              </a:r>
              <a:endParaRPr sz="800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03" name="Google Shape;303;p13"/>
          <p:cNvGrpSpPr/>
          <p:nvPr/>
        </p:nvGrpSpPr>
        <p:grpSpPr>
          <a:xfrm>
            <a:off x="4667250" y="2905125"/>
            <a:ext cx="4191000" cy="714300"/>
            <a:chOff x="4667250" y="2905125"/>
            <a:chExt cx="4191000" cy="714300"/>
          </a:xfrm>
        </p:grpSpPr>
        <p:sp>
          <p:nvSpPr>
            <p:cNvPr id="304" name="Google Shape;304;p13"/>
            <p:cNvSpPr/>
            <p:nvPr/>
          </p:nvSpPr>
          <p:spPr>
            <a:xfrm>
              <a:off x="4667250" y="2905125"/>
              <a:ext cx="4191000" cy="714300"/>
            </a:xfrm>
            <a:prstGeom prst="roundRect">
              <a:avLst>
                <a:gd fmla="val 10666" name="adj"/>
              </a:avLst>
            </a:prstGeom>
            <a:solidFill>
              <a:srgbClr val="1A0E08"/>
            </a:solidFill>
            <a:ln cap="flat" cmpd="sng" w="9525">
              <a:solidFill>
                <a:srgbClr val="FF8B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4829175" y="3090863"/>
              <a:ext cx="342900" cy="342900"/>
            </a:xfrm>
            <a:prstGeom prst="ellipse">
              <a:avLst/>
            </a:prstGeom>
            <a:solidFill>
              <a:srgbClr val="FF8B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3"/>
            <p:cNvSpPr txBox="1"/>
            <p:nvPr/>
          </p:nvSpPr>
          <p:spPr>
            <a:xfrm>
              <a:off x="4829175" y="3090863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A0C18"/>
                  </a:solidFill>
                  <a:latin typeface="Consolas"/>
                  <a:ea typeface="Consolas"/>
                  <a:cs typeface="Consolas"/>
                  <a:sym typeface="Consolas"/>
                </a:rPr>
                <a:t>06</a:t>
              </a:r>
              <a:endParaRPr b="1" sz="1200">
                <a:solidFill>
                  <a:srgbClr val="0A0C1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07" name="Google Shape;307;p13"/>
            <p:cNvSpPr txBox="1"/>
            <p:nvPr/>
          </p:nvSpPr>
          <p:spPr>
            <a:xfrm>
              <a:off x="5286375" y="3000375"/>
              <a:ext cx="2667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rPr>
                <a:t>Papaya translates findings</a:t>
              </a:r>
              <a:endParaRPr sz="11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8001000" y="3162300"/>
              <a:ext cx="762000" cy="2001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FF8B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3"/>
            <p:cNvSpPr txBox="1"/>
            <p:nvPr/>
          </p:nvSpPr>
          <p:spPr>
            <a:xfrm>
              <a:off x="8001000" y="3162300"/>
              <a:ext cx="762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FF8B5E"/>
                  </a:solidFill>
                  <a:latin typeface="Consolas"/>
                  <a:ea typeface="Consolas"/>
                  <a:cs typeface="Consolas"/>
                  <a:sym typeface="Consolas"/>
                </a:rPr>
                <a:t>PAPAYA</a:t>
              </a:r>
              <a:endParaRPr sz="800">
                <a:solidFill>
                  <a:srgbClr val="FF8B5E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10" name="Google Shape;310;p13"/>
          <p:cNvGrpSpPr/>
          <p:nvPr/>
        </p:nvGrpSpPr>
        <p:grpSpPr>
          <a:xfrm>
            <a:off x="285750" y="3762375"/>
            <a:ext cx="4191000" cy="714300"/>
            <a:chOff x="285750" y="3762375"/>
            <a:chExt cx="4191000" cy="714300"/>
          </a:xfrm>
        </p:grpSpPr>
        <p:sp>
          <p:nvSpPr>
            <p:cNvPr id="311" name="Google Shape;311;p13"/>
            <p:cNvSpPr/>
            <p:nvPr/>
          </p:nvSpPr>
          <p:spPr>
            <a:xfrm>
              <a:off x="285750" y="3762375"/>
              <a:ext cx="4191000" cy="714300"/>
            </a:xfrm>
            <a:prstGeom prst="roundRect">
              <a:avLst>
                <a:gd fmla="val 10666" name="adj"/>
              </a:avLst>
            </a:prstGeom>
            <a:solidFill>
              <a:srgbClr val="0D1A0D"/>
            </a:solidFill>
            <a:ln cap="flat" cmpd="sng" w="9525">
              <a:solidFill>
                <a:srgbClr val="7CC4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447675" y="3948113"/>
              <a:ext cx="342900" cy="342900"/>
            </a:xfrm>
            <a:prstGeom prst="ellipse">
              <a:avLst/>
            </a:prstGeom>
            <a:solidFill>
              <a:srgbClr val="7CC4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3"/>
            <p:cNvSpPr txBox="1"/>
            <p:nvPr/>
          </p:nvSpPr>
          <p:spPr>
            <a:xfrm>
              <a:off x="447675" y="3948113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A0C18"/>
                  </a:solidFill>
                  <a:latin typeface="Consolas"/>
                  <a:ea typeface="Consolas"/>
                  <a:cs typeface="Consolas"/>
                  <a:sym typeface="Consolas"/>
                </a:rPr>
                <a:t>07</a:t>
              </a:r>
              <a:endParaRPr b="1" sz="1200">
                <a:solidFill>
                  <a:srgbClr val="0A0C1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14" name="Google Shape;314;p13"/>
            <p:cNvSpPr txBox="1"/>
            <p:nvPr/>
          </p:nvSpPr>
          <p:spPr>
            <a:xfrm>
              <a:off x="904875" y="3857625"/>
              <a:ext cx="2667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rPr>
                <a:t>Kiwi executes remediation</a:t>
              </a:r>
              <a:endParaRPr sz="11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3619500" y="4019550"/>
              <a:ext cx="762000" cy="2001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7CC4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3"/>
            <p:cNvSpPr txBox="1"/>
            <p:nvPr/>
          </p:nvSpPr>
          <p:spPr>
            <a:xfrm>
              <a:off x="3619500" y="4019550"/>
              <a:ext cx="762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7CC440"/>
                  </a:solidFill>
                  <a:latin typeface="Consolas"/>
                  <a:ea typeface="Consolas"/>
                  <a:cs typeface="Consolas"/>
                  <a:sym typeface="Consolas"/>
                </a:rPr>
                <a:t>KIWI</a:t>
              </a:r>
              <a:endParaRPr sz="8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17" name="Google Shape;317;p13"/>
          <p:cNvGrpSpPr/>
          <p:nvPr/>
        </p:nvGrpSpPr>
        <p:grpSpPr>
          <a:xfrm>
            <a:off x="4667250" y="3762375"/>
            <a:ext cx="4191000" cy="714300"/>
            <a:chOff x="4667250" y="3762375"/>
            <a:chExt cx="4191000" cy="714300"/>
          </a:xfrm>
        </p:grpSpPr>
        <p:sp>
          <p:nvSpPr>
            <p:cNvPr id="318" name="Google Shape;318;p13"/>
            <p:cNvSpPr/>
            <p:nvPr/>
          </p:nvSpPr>
          <p:spPr>
            <a:xfrm>
              <a:off x="4667250" y="3762375"/>
              <a:ext cx="4191000" cy="714300"/>
            </a:xfrm>
            <a:prstGeom prst="roundRect">
              <a:avLst>
                <a:gd fmla="val 10666" name="adj"/>
              </a:avLst>
            </a:prstGeom>
            <a:solidFill>
              <a:srgbClr val="0D1A0D"/>
            </a:solidFill>
            <a:ln cap="flat" cmpd="sng" w="9525">
              <a:solidFill>
                <a:srgbClr val="7CC4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3"/>
            <p:cNvSpPr/>
            <p:nvPr/>
          </p:nvSpPr>
          <p:spPr>
            <a:xfrm>
              <a:off x="4829175" y="3948113"/>
              <a:ext cx="342900" cy="342900"/>
            </a:xfrm>
            <a:prstGeom prst="ellipse">
              <a:avLst/>
            </a:prstGeom>
            <a:solidFill>
              <a:srgbClr val="7CC4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3"/>
            <p:cNvSpPr txBox="1"/>
            <p:nvPr/>
          </p:nvSpPr>
          <p:spPr>
            <a:xfrm>
              <a:off x="4829175" y="3948113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A0C18"/>
                  </a:solidFill>
                  <a:latin typeface="Consolas"/>
                  <a:ea typeface="Consolas"/>
                  <a:cs typeface="Consolas"/>
                  <a:sym typeface="Consolas"/>
                </a:rPr>
                <a:t>08</a:t>
              </a:r>
              <a:endParaRPr b="1" sz="1200">
                <a:solidFill>
                  <a:srgbClr val="0A0C1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1" name="Google Shape;321;p13"/>
            <p:cNvSpPr txBox="1"/>
            <p:nvPr/>
          </p:nvSpPr>
          <p:spPr>
            <a:xfrm>
              <a:off x="5286375" y="3857625"/>
              <a:ext cx="2667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rPr>
                <a:t>Confirm · log · loop closed</a:t>
              </a:r>
              <a:endParaRPr sz="11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2" name="Google Shape;322;p13"/>
            <p:cNvSpPr/>
            <p:nvPr/>
          </p:nvSpPr>
          <p:spPr>
            <a:xfrm>
              <a:off x="8001000" y="4019550"/>
              <a:ext cx="762000" cy="2001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7CC4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3"/>
            <p:cNvSpPr txBox="1"/>
            <p:nvPr/>
          </p:nvSpPr>
          <p:spPr>
            <a:xfrm>
              <a:off x="8001000" y="4019550"/>
              <a:ext cx="7620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7CC440"/>
                  </a:solidFill>
                  <a:latin typeface="Consolas"/>
                  <a:ea typeface="Consolas"/>
                  <a:cs typeface="Consolas"/>
                  <a:sym typeface="Consolas"/>
                </a:rPr>
                <a:t>KIWI</a:t>
              </a:r>
              <a:endParaRPr sz="8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324" name="Google Shape;324;p13"/>
          <p:cNvSpPr/>
          <p:nvPr/>
        </p:nvSpPr>
        <p:spPr>
          <a:xfrm>
            <a:off x="274320" y="4892040"/>
            <a:ext cx="6858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Papaya + Kiwi  ·  papaya.kiwi  ·  @PapayaKiwiSOC  ·  BSides South Florida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8046720" y="4892040"/>
            <a:ext cx="822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11 / 14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18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"/>
          <p:cNvSpPr/>
          <p:nvPr/>
        </p:nvSpPr>
        <p:spPr>
          <a:xfrm>
            <a:off x="502920" y="274320"/>
            <a:ext cx="8138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27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OPEN SOURCE  ·  PIPELINE_DEMOS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502920" y="512064"/>
            <a:ext cx="8138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rPr>
              <a:t>Clone it. Run it. Break it.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3" name="Google Shape;333;p14"/>
          <p:cNvGrpSpPr/>
          <p:nvPr/>
        </p:nvGrpSpPr>
        <p:grpSpPr>
          <a:xfrm>
            <a:off x="476250" y="1143000"/>
            <a:ext cx="3429000" cy="3429000"/>
            <a:chOff x="476250" y="1143000"/>
            <a:chExt cx="3429000" cy="3429000"/>
          </a:xfrm>
        </p:grpSpPr>
        <p:sp>
          <p:nvSpPr>
            <p:cNvPr id="334" name="Google Shape;334;p14"/>
            <p:cNvSpPr/>
            <p:nvPr/>
          </p:nvSpPr>
          <p:spPr>
            <a:xfrm>
              <a:off x="476250" y="1143000"/>
              <a:ext cx="3429000" cy="3429000"/>
            </a:xfrm>
            <a:prstGeom prst="roundRect">
              <a:avLst>
                <a:gd fmla="val 2222" name="adj"/>
              </a:avLst>
            </a:prstGeom>
            <a:solidFill>
              <a:srgbClr val="0C0E1E"/>
            </a:solidFill>
            <a:ln cap="flat" cmpd="sng" w="19050">
              <a:solidFill>
                <a:srgbClr val="2E33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4"/>
            <p:cNvSpPr txBox="1"/>
            <p:nvPr/>
          </p:nvSpPr>
          <p:spPr>
            <a:xfrm>
              <a:off x="619125" y="1285875"/>
              <a:ext cx="31434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7CC440"/>
                  </a:solidFill>
                  <a:latin typeface="Consolas"/>
                  <a:ea typeface="Consolas"/>
                  <a:cs typeface="Consolas"/>
                  <a:sym typeface="Consolas"/>
                </a:rPr>
                <a:t>pipeline_demos/</a:t>
              </a:r>
              <a:endParaRPr b="1" sz="10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B5270"/>
                  </a:solidFill>
                  <a:latin typeface="Consolas"/>
                  <a:ea typeface="Consolas"/>
                  <a:cs typeface="Consolas"/>
                  <a:sym typeface="Consolas"/>
                </a:rPr>
                <a:t>.github/workflows/</a:t>
              </a:r>
              <a:endParaRPr sz="10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7CC440"/>
                  </a:solidFill>
                  <a:latin typeface="Consolas"/>
                  <a:ea typeface="Consolas"/>
                  <a:cs typeface="Consolas"/>
                  <a:sym typeface="Consolas"/>
                </a:rPr>
                <a:t>Docker Image Scan.yml</a:t>
              </a:r>
              <a:endParaRPr sz="10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5C842"/>
                  </a:solidFill>
                  <a:latin typeface="Consolas"/>
                  <a:ea typeface="Consolas"/>
                  <a:cs typeface="Consolas"/>
                  <a:sym typeface="Consolas"/>
                </a:rPr>
                <a:t>checkov.yml</a:t>
              </a:r>
              <a:endParaRPr sz="1000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F8B5E"/>
                  </a:solidFill>
                  <a:latin typeface="Consolas"/>
                  <a:ea typeface="Consolas"/>
                  <a:cs typeface="Consolas"/>
                  <a:sym typeface="Consolas"/>
                </a:rPr>
                <a:t>prowler.yml</a:t>
              </a:r>
              <a:endParaRPr sz="1000">
                <a:solidFill>
                  <a:srgbClr val="FF8B5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B5270"/>
                  </a:solidFill>
                  <a:latin typeface="Consolas"/>
                  <a:ea typeface="Consolas"/>
                  <a:cs typeface="Consolas"/>
                  <a:sym typeface="Consolas"/>
                </a:rPr>
                <a:t>tf/</a:t>
              </a:r>
              <a:endParaRPr sz="10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B5270"/>
                  </a:solidFill>
                  <a:latin typeface="Consolas"/>
                  <a:ea typeface="Consolas"/>
                  <a:cs typeface="Consolas"/>
                  <a:sym typeface="Consolas"/>
                </a:rPr>
                <a:t>main.tf</a:t>
              </a:r>
              <a:endParaRPr sz="10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F8B5E"/>
                  </a:solidFill>
                  <a:latin typeface="Consolas"/>
                  <a:ea typeface="Consolas"/>
                  <a:cs typeface="Consolas"/>
                  <a:sym typeface="Consolas"/>
                </a:rPr>
                <a:t>papaya.md</a:t>
              </a:r>
              <a:endParaRPr sz="1000">
                <a:solidFill>
                  <a:srgbClr val="FF8B5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7CC440"/>
                  </a:solidFill>
                  <a:latin typeface="Consolas"/>
                  <a:ea typeface="Consolas"/>
                  <a:cs typeface="Consolas"/>
                  <a:sym typeface="Consolas"/>
                </a:rPr>
                <a:t>kiwi.md</a:t>
              </a:r>
              <a:endParaRPr sz="10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DD9E0"/>
                  </a:solidFill>
                  <a:latin typeface="Consolas"/>
                  <a:ea typeface="Consolas"/>
                  <a:cs typeface="Consolas"/>
                  <a:sym typeface="Consolas"/>
                </a:rPr>
                <a:t>tools.py</a:t>
              </a:r>
              <a:endParaRPr sz="1000">
                <a:solidFill>
                  <a:srgbClr val="4DD9E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rPr>
                <a:t>orchestrator.py</a:t>
              </a:r>
              <a:endParaRPr sz="1000">
                <a:solidFill>
                  <a:srgbClr val="E8EAF6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2A7C3"/>
                  </a:solidFill>
                  <a:latin typeface="Consolas"/>
                  <a:ea typeface="Consolas"/>
                  <a:cs typeface="Consolas"/>
                  <a:sym typeface="Consolas"/>
                </a:rPr>
                <a:t>report.py</a:t>
              </a:r>
              <a:endParaRPr sz="1000">
                <a:solidFill>
                  <a:srgbClr val="F2A7C3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B5270"/>
                  </a:solidFill>
                  <a:latin typeface="Consolas"/>
                  <a:ea typeface="Consolas"/>
                  <a:cs typeface="Consolas"/>
                  <a:sym typeface="Consolas"/>
                </a:rPr>
                <a:t>Dockerfile</a:t>
              </a:r>
              <a:endParaRPr sz="10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B5270"/>
                  </a:solidFill>
                  <a:latin typeface="Consolas"/>
                  <a:ea typeface="Consolas"/>
                  <a:cs typeface="Consolas"/>
                  <a:sym typeface="Consolas"/>
                </a:rPr>
                <a:t>requirements.txt</a:t>
              </a:r>
              <a:endParaRPr sz="10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5C842"/>
                  </a:solidFill>
                  <a:latin typeface="Consolas"/>
                  <a:ea typeface="Consolas"/>
                  <a:cs typeface="Consolas"/>
                  <a:sym typeface="Consolas"/>
                </a:rPr>
                <a:t>README.md</a:t>
              </a:r>
              <a:endParaRPr sz="1000">
                <a:solidFill>
                  <a:srgbClr val="F5C84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36" name="Google Shape;336;p14"/>
          <p:cNvGrpSpPr/>
          <p:nvPr/>
        </p:nvGrpSpPr>
        <p:grpSpPr>
          <a:xfrm>
            <a:off x="4095750" y="1143000"/>
            <a:ext cx="4572000" cy="3143400"/>
            <a:chOff x="4095750" y="1143000"/>
            <a:chExt cx="4572000" cy="3143400"/>
          </a:xfrm>
        </p:grpSpPr>
        <p:sp>
          <p:nvSpPr>
            <p:cNvPr id="337" name="Google Shape;337;p14"/>
            <p:cNvSpPr/>
            <p:nvPr/>
          </p:nvSpPr>
          <p:spPr>
            <a:xfrm>
              <a:off x="4095750" y="1143000"/>
              <a:ext cx="4572000" cy="400200"/>
            </a:xfrm>
            <a:prstGeom prst="roundRect">
              <a:avLst>
                <a:gd fmla="val 14285" name="adj"/>
              </a:avLst>
            </a:prstGeom>
            <a:solidFill>
              <a:srgbClr val="1215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4"/>
            <p:cNvSpPr txBox="1"/>
            <p:nvPr/>
          </p:nvSpPr>
          <p:spPr>
            <a:xfrm>
              <a:off x="4191000" y="1143000"/>
              <a:ext cx="438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8B5E"/>
                  </a:solidFill>
                  <a:latin typeface="Consolas"/>
                  <a:ea typeface="Consolas"/>
                  <a:cs typeface="Consolas"/>
                  <a:sym typeface="Consolas"/>
                </a:rPr>
                <a:t>papaya.md:</a:t>
              </a:r>
              <a:r>
                <a:rPr lang="en-US" sz="1000">
                  <a:latin typeface="Trebuchet MS"/>
                  <a:ea typeface="Trebuchet MS"/>
                  <a:cs typeface="Trebuchet MS"/>
                  <a:sym typeface="Trebuchet MS"/>
                </a:rPr>
                <a:t> </a:t>
              </a:r>
              <a:r>
                <a:rPr lang="en-US" sz="100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Papaya agent system prompt — advisory personality</a:t>
              </a:r>
              <a:endParaRPr sz="1000"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4095750" y="1600200"/>
              <a:ext cx="4572000" cy="400200"/>
            </a:xfrm>
            <a:prstGeom prst="roundRect">
              <a:avLst>
                <a:gd fmla="val 14285" name="adj"/>
              </a:avLst>
            </a:prstGeom>
            <a:solidFill>
              <a:srgbClr val="1215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4"/>
            <p:cNvSpPr txBox="1"/>
            <p:nvPr/>
          </p:nvSpPr>
          <p:spPr>
            <a:xfrm>
              <a:off x="4191000" y="1600200"/>
              <a:ext cx="438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7CC440"/>
                  </a:solidFill>
                  <a:latin typeface="Consolas"/>
                  <a:ea typeface="Consolas"/>
                  <a:cs typeface="Consolas"/>
                  <a:sym typeface="Consolas"/>
                </a:rPr>
                <a:t>kiwi.md:</a:t>
              </a:r>
              <a:r>
                <a:rPr lang="en-US" sz="1000">
                  <a:latin typeface="Trebuchet MS"/>
                  <a:ea typeface="Trebuchet MS"/>
                  <a:cs typeface="Trebuchet MS"/>
                  <a:sym typeface="Trebuchet MS"/>
                </a:rPr>
                <a:t> </a:t>
              </a:r>
              <a:r>
                <a:rPr lang="en-US" sz="100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Kiwi agent system prompt — scanner + executor</a:t>
              </a:r>
              <a:endParaRPr sz="1000"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4095750" y="2057400"/>
              <a:ext cx="4572000" cy="400200"/>
            </a:xfrm>
            <a:prstGeom prst="roundRect">
              <a:avLst>
                <a:gd fmla="val 14285" name="adj"/>
              </a:avLst>
            </a:prstGeom>
            <a:solidFill>
              <a:srgbClr val="1215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4"/>
            <p:cNvSpPr txBox="1"/>
            <p:nvPr/>
          </p:nvSpPr>
          <p:spPr>
            <a:xfrm>
              <a:off x="4191000" y="2057400"/>
              <a:ext cx="438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DD9E0"/>
                  </a:solidFill>
                  <a:latin typeface="Consolas"/>
                  <a:ea typeface="Consolas"/>
                  <a:cs typeface="Consolas"/>
                  <a:sym typeface="Consolas"/>
                </a:rPr>
                <a:t>tools.py:</a:t>
              </a:r>
              <a:r>
                <a:rPr lang="en-US" sz="1000">
                  <a:latin typeface="Trebuchet MS"/>
                  <a:ea typeface="Trebuchet MS"/>
                  <a:cs typeface="Trebuchet MS"/>
                  <a:sym typeface="Trebuchet MS"/>
                </a:rPr>
                <a:t> </a:t>
              </a:r>
              <a:r>
                <a:rPr lang="en-US" sz="100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Anthropic tool-use API + GitHub Actions API calls</a:t>
              </a:r>
              <a:endParaRPr sz="1000"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4095750" y="2514600"/>
              <a:ext cx="4572000" cy="400200"/>
            </a:xfrm>
            <a:prstGeom prst="roundRect">
              <a:avLst>
                <a:gd fmla="val 14285" name="adj"/>
              </a:avLst>
            </a:prstGeom>
            <a:solidFill>
              <a:srgbClr val="1215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4"/>
            <p:cNvSpPr txBox="1"/>
            <p:nvPr/>
          </p:nvSpPr>
          <p:spPr>
            <a:xfrm>
              <a:off x="4191000" y="2514600"/>
              <a:ext cx="438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E8EAF6"/>
                  </a:solidFill>
                  <a:latin typeface="Consolas"/>
                  <a:ea typeface="Consolas"/>
                  <a:cs typeface="Consolas"/>
                  <a:sym typeface="Consolas"/>
                </a:rPr>
                <a:t>orchestrator.py:</a:t>
              </a:r>
              <a:r>
                <a:rPr lang="en-US" sz="1000">
                  <a:latin typeface="Trebuchet MS"/>
                  <a:ea typeface="Trebuchet MS"/>
                  <a:cs typeface="Trebuchet MS"/>
                  <a:sym typeface="Trebuchet MS"/>
                </a:rPr>
                <a:t> </a:t>
              </a:r>
              <a:r>
                <a:rPr lang="en-US" sz="100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CLI runner — --mock / --rehearsal / --live modes</a:t>
              </a:r>
              <a:endParaRPr sz="1000"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4095750" y="2971800"/>
              <a:ext cx="4572000" cy="400200"/>
            </a:xfrm>
            <a:prstGeom prst="roundRect">
              <a:avLst>
                <a:gd fmla="val 14285" name="adj"/>
              </a:avLst>
            </a:prstGeom>
            <a:solidFill>
              <a:srgbClr val="1215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4"/>
            <p:cNvSpPr txBox="1"/>
            <p:nvPr/>
          </p:nvSpPr>
          <p:spPr>
            <a:xfrm>
              <a:off x="4191000" y="2971800"/>
              <a:ext cx="438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7CC440"/>
                  </a:solidFill>
                  <a:latin typeface="Consolas"/>
                  <a:ea typeface="Consolas"/>
                  <a:cs typeface="Consolas"/>
                  <a:sym typeface="Consolas"/>
                </a:rPr>
                <a:t>Docker Image Scan.yml:</a:t>
              </a:r>
              <a:r>
                <a:rPr lang="en-US" sz="1000">
                  <a:latin typeface="Trebuchet MS"/>
                  <a:ea typeface="Trebuchet MS"/>
                  <a:cs typeface="Trebuchet MS"/>
                  <a:sym typeface="Trebuchet MS"/>
                </a:rPr>
                <a:t> </a:t>
              </a:r>
              <a:r>
                <a:rPr lang="en-US" sz="100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Trivy container CVE scan workflow</a:t>
              </a:r>
              <a:endParaRPr sz="1000"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4095750" y="3429000"/>
              <a:ext cx="4572000" cy="400200"/>
            </a:xfrm>
            <a:prstGeom prst="roundRect">
              <a:avLst>
                <a:gd fmla="val 14285" name="adj"/>
              </a:avLst>
            </a:prstGeom>
            <a:solidFill>
              <a:srgbClr val="1215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4"/>
            <p:cNvSpPr txBox="1"/>
            <p:nvPr/>
          </p:nvSpPr>
          <p:spPr>
            <a:xfrm>
              <a:off x="4191000" y="3429000"/>
              <a:ext cx="438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5C842"/>
                  </a:solidFill>
                  <a:latin typeface="Consolas"/>
                  <a:ea typeface="Consolas"/>
                  <a:cs typeface="Consolas"/>
                  <a:sym typeface="Consolas"/>
                </a:rPr>
                <a:t>checkov.yml:</a:t>
              </a:r>
              <a:r>
                <a:rPr lang="en-US" sz="1000">
                  <a:latin typeface="Trebuchet MS"/>
                  <a:ea typeface="Trebuchet MS"/>
                  <a:cs typeface="Trebuchet MS"/>
                  <a:sym typeface="Trebuchet MS"/>
                </a:rPr>
                <a:t> </a:t>
              </a:r>
              <a:r>
                <a:rPr lang="en-US" sz="100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Terraform IaC policy scan workflow</a:t>
              </a:r>
              <a:endParaRPr sz="1000"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4095750" y="3886200"/>
              <a:ext cx="4572000" cy="400200"/>
            </a:xfrm>
            <a:prstGeom prst="roundRect">
              <a:avLst>
                <a:gd fmla="val 14285" name="adj"/>
              </a:avLst>
            </a:prstGeom>
            <a:solidFill>
              <a:srgbClr val="1215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4"/>
            <p:cNvSpPr txBox="1"/>
            <p:nvPr/>
          </p:nvSpPr>
          <p:spPr>
            <a:xfrm>
              <a:off x="4191000" y="3886200"/>
              <a:ext cx="438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8B5E"/>
                  </a:solidFill>
                  <a:latin typeface="Consolas"/>
                  <a:ea typeface="Consolas"/>
                  <a:cs typeface="Consolas"/>
                  <a:sym typeface="Consolas"/>
                </a:rPr>
                <a:t>prowler.yml:</a:t>
              </a:r>
              <a:r>
                <a:rPr lang="en-US" sz="1000">
                  <a:latin typeface="Trebuchet MS"/>
                  <a:ea typeface="Trebuchet MS"/>
                  <a:cs typeface="Trebuchet MS"/>
                  <a:sym typeface="Trebuchet MS"/>
                </a:rPr>
                <a:t> </a:t>
              </a:r>
              <a:r>
                <a:rPr lang="en-US" sz="100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AWS CIS compliance workflow (OIDC auth, no keys)</a:t>
              </a:r>
              <a:endParaRPr sz="1000"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351" name="Google Shape;351;p14"/>
          <p:cNvSpPr/>
          <p:nvPr/>
        </p:nvSpPr>
        <p:spPr>
          <a:xfrm>
            <a:off x="320040" y="4773168"/>
            <a:ext cx="837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Real Anthropic tool-use agent loops — not text generation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274320" y="4892040"/>
            <a:ext cx="6858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Papaya + Kiwi  ·  papaya.kiwi  ·  @PapayaKiwiSOC  ·  BSides South Florida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8046720" y="4892040"/>
            <a:ext cx="822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12 / 14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"/>
          <p:cNvSpPr/>
          <p:nvPr/>
        </p:nvSpPr>
        <p:spPr>
          <a:xfrm>
            <a:off x="502920" y="274320"/>
            <a:ext cx="8138100" cy="20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7625" lIns="95250" spcFirstLastPara="1" rIns="95250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3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WHY THIS MATTERS</a:t>
            </a:r>
            <a:endParaRPr b="0" sz="630">
              <a:solidFill>
                <a:srgbClr val="4B527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502920" y="523875"/>
            <a:ext cx="81381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95250" spcFirstLastPara="1" rIns="95250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rPr>
              <a:t>The gap between finding and fix is where breaches live.</a:t>
            </a:r>
            <a:endParaRPr b="1" sz="2380">
              <a:solidFill>
                <a:srgbClr val="E8EAF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61" name="Google Shape;361;p15"/>
          <p:cNvGrpSpPr/>
          <p:nvPr/>
        </p:nvGrpSpPr>
        <p:grpSpPr>
          <a:xfrm>
            <a:off x="381000" y="1524000"/>
            <a:ext cx="2667000" cy="3048000"/>
            <a:chOff x="381000" y="1524000"/>
            <a:chExt cx="2667000" cy="3048000"/>
          </a:xfrm>
        </p:grpSpPr>
        <p:sp>
          <p:nvSpPr>
            <p:cNvPr id="362" name="Google Shape;362;p15"/>
            <p:cNvSpPr/>
            <p:nvPr/>
          </p:nvSpPr>
          <p:spPr>
            <a:xfrm>
              <a:off x="381000" y="1524000"/>
              <a:ext cx="2667000" cy="3048000"/>
            </a:xfrm>
            <a:prstGeom prst="roundRect">
              <a:avLst>
                <a:gd fmla="val 3571" name="adj"/>
              </a:avLst>
            </a:prstGeom>
            <a:solidFill>
              <a:srgbClr val="12152A"/>
            </a:solidFill>
            <a:ln cap="flat" cmpd="sng" w="19050">
              <a:solidFill>
                <a:srgbClr val="FF4D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5"/>
            <p:cNvSpPr txBox="1"/>
            <p:nvPr/>
          </p:nvSpPr>
          <p:spPr>
            <a:xfrm>
              <a:off x="381000" y="152400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4D6A"/>
                  </a:solidFill>
                  <a:latin typeface="Consolas"/>
                  <a:ea typeface="Consolas"/>
                  <a:cs typeface="Consolas"/>
                  <a:sym typeface="Consolas"/>
                </a:rPr>
                <a:t>THE PROBLEM</a:t>
              </a:r>
              <a:endParaRPr b="1" sz="1000">
                <a:solidFill>
                  <a:srgbClr val="FF4D6A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Security tools generate findings at machine speed. Remediation still requires manual routing, ticket creation, and human execution — a window that attackers exploit.</a:t>
              </a:r>
              <a:endParaRPr b="0" sz="130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364" name="Google Shape;364;p15"/>
          <p:cNvGrpSpPr/>
          <p:nvPr/>
        </p:nvGrpSpPr>
        <p:grpSpPr>
          <a:xfrm>
            <a:off x="3238500" y="1524000"/>
            <a:ext cx="2667000" cy="3048000"/>
            <a:chOff x="3238500" y="1524000"/>
            <a:chExt cx="2667000" cy="3048000"/>
          </a:xfrm>
        </p:grpSpPr>
        <p:sp>
          <p:nvSpPr>
            <p:cNvPr id="365" name="Google Shape;365;p15"/>
            <p:cNvSpPr/>
            <p:nvPr/>
          </p:nvSpPr>
          <p:spPr>
            <a:xfrm>
              <a:off x="3238500" y="1524000"/>
              <a:ext cx="2667000" cy="3048000"/>
            </a:xfrm>
            <a:prstGeom prst="roundRect">
              <a:avLst>
                <a:gd fmla="val 3571" name="adj"/>
              </a:avLst>
            </a:prstGeom>
            <a:solidFill>
              <a:srgbClr val="12152A"/>
            </a:solidFill>
            <a:ln cap="flat" cmpd="sng" w="19050">
              <a:solidFill>
                <a:srgbClr val="F2A7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5"/>
            <p:cNvSpPr txBox="1"/>
            <p:nvPr/>
          </p:nvSpPr>
          <p:spPr>
            <a:xfrm>
              <a:off x="3238500" y="152400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2A7C3"/>
                  </a:solidFill>
                  <a:latin typeface="Consolas"/>
                  <a:ea typeface="Consolas"/>
                  <a:cs typeface="Consolas"/>
                  <a:sym typeface="Consolas"/>
                </a:rPr>
                <a:t>THE BRIDGE</a:t>
              </a:r>
              <a:endParaRPr b="1" sz="1000">
                <a:solidFill>
                  <a:srgbClr val="F2A7C3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The JSON inter-agent handoff schema is what makes automated remediation safe: structured, validated, auditable. Free-form text is a finding. A schema is an instruction.</a:t>
              </a:r>
              <a:endParaRPr b="0" sz="130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367" name="Google Shape;367;p15"/>
          <p:cNvGrpSpPr/>
          <p:nvPr/>
        </p:nvGrpSpPr>
        <p:grpSpPr>
          <a:xfrm>
            <a:off x="6096000" y="1524000"/>
            <a:ext cx="2667000" cy="3048000"/>
            <a:chOff x="6096000" y="1524000"/>
            <a:chExt cx="2667000" cy="3048000"/>
          </a:xfrm>
        </p:grpSpPr>
        <p:sp>
          <p:nvSpPr>
            <p:cNvPr id="368" name="Google Shape;368;p15"/>
            <p:cNvSpPr/>
            <p:nvPr/>
          </p:nvSpPr>
          <p:spPr>
            <a:xfrm>
              <a:off x="6096000" y="1524000"/>
              <a:ext cx="2667000" cy="3048000"/>
            </a:xfrm>
            <a:prstGeom prst="roundRect">
              <a:avLst>
                <a:gd fmla="val 3571" name="adj"/>
              </a:avLst>
            </a:prstGeom>
            <a:solidFill>
              <a:srgbClr val="12152A"/>
            </a:solidFill>
            <a:ln cap="flat" cmpd="sng" w="19050">
              <a:solidFill>
                <a:srgbClr val="7CC4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5"/>
            <p:cNvSpPr txBox="1"/>
            <p:nvPr/>
          </p:nvSpPr>
          <p:spPr>
            <a:xfrm>
              <a:off x="6096000" y="1524000"/>
              <a:ext cx="2667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7CC440"/>
                  </a:solidFill>
                  <a:latin typeface="Consolas"/>
                  <a:ea typeface="Consolas"/>
                  <a:cs typeface="Consolas"/>
                  <a:sym typeface="Consolas"/>
                </a:rPr>
                <a:t>THE LOOP</a:t>
              </a:r>
              <a:endParaRPr b="1" sz="10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E8EAF6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Kiwi + Papaya form a closed loop from prompt to pipeline: you describe the problem in plain English, Papaya suggests the right workflow, Kiwi runs it and reports back.</a:t>
              </a:r>
              <a:endParaRPr b="0" sz="130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370" name="Google Shape;370;p15"/>
          <p:cNvSpPr/>
          <p:nvPr/>
        </p:nvSpPr>
        <p:spPr>
          <a:xfrm>
            <a:off x="274320" y="4892040"/>
            <a:ext cx="6858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Papaya + Kiwi  ·  papaya.kiwi  ·  @PapayaKiwiSOC  ·  BSides South Florida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8046720" y="4892040"/>
            <a:ext cx="822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13 / 14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18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6"/>
          <p:cNvSpPr/>
          <p:nvPr/>
        </p:nvSpPr>
        <p:spPr>
          <a:xfrm>
            <a:off x="502920" y="571500"/>
            <a:ext cx="8138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7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rPr>
              <a:t>Teaching security,</a:t>
            </a:r>
            <a:endParaRPr b="1" sz="3570">
              <a:solidFill>
                <a:srgbClr val="E8EAF6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7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rPr>
              <a:t>one sweet byte at a time.</a:t>
            </a:r>
            <a:endParaRPr b="1" sz="3570">
              <a:solidFill>
                <a:srgbClr val="E8EAF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476250" y="2000250"/>
            <a:ext cx="4000500" cy="762000"/>
          </a:xfrm>
          <a:prstGeom prst="roundRect">
            <a:avLst>
              <a:gd fmla="val 12500" name="adj"/>
            </a:avLst>
          </a:prstGeom>
          <a:solidFill>
            <a:srgbClr val="0D1A0D"/>
          </a:solidFill>
          <a:ln cap="flat" cmpd="sng" w="19050">
            <a:solidFill>
              <a:srgbClr val="7CC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6"/>
          <p:cNvSpPr/>
          <p:nvPr/>
        </p:nvSpPr>
        <p:spPr>
          <a:xfrm>
            <a:off x="666750" y="2095500"/>
            <a:ext cx="3619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rPr>
              <a:t>→ github.com/papaya-kiwi/</a:t>
            </a:r>
            <a:endParaRPr b="1" sz="1400">
              <a:solidFill>
                <a:srgbClr val="7CC44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rPr>
              <a:t>pipeline_demos</a:t>
            </a:r>
            <a:endParaRPr b="1" sz="1400">
              <a:solidFill>
                <a:srgbClr val="7CC44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4667250" y="2000250"/>
            <a:ext cx="4000500" cy="762000"/>
          </a:xfrm>
          <a:prstGeom prst="roundRect">
            <a:avLst>
              <a:gd fmla="val 12500" name="adj"/>
            </a:avLst>
          </a:prstGeom>
          <a:solidFill>
            <a:srgbClr val="1A0E08"/>
          </a:solidFill>
          <a:ln cap="flat" cmpd="sng" w="19050">
            <a:solidFill>
              <a:srgbClr val="FF8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6"/>
          <p:cNvSpPr/>
          <p:nvPr/>
        </p:nvSpPr>
        <p:spPr>
          <a:xfrm>
            <a:off x="4857750" y="2095500"/>
            <a:ext cx="3619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8B5E"/>
                </a:solidFill>
                <a:latin typeface="Consolas"/>
                <a:ea typeface="Consolas"/>
                <a:cs typeface="Consolas"/>
                <a:sym typeface="Consolas"/>
              </a:rPr>
              <a:t>→ papaya.kiwi</a:t>
            </a:r>
            <a:endParaRPr b="1" sz="1400">
              <a:solidFill>
                <a:srgbClr val="FF8B5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476250" y="2952750"/>
            <a:ext cx="4000500" cy="762000"/>
          </a:xfrm>
          <a:prstGeom prst="roundRect">
            <a:avLst>
              <a:gd fmla="val 12500" name="adj"/>
            </a:avLst>
          </a:prstGeom>
          <a:solidFill>
            <a:srgbClr val="0D1A0D"/>
          </a:solidFill>
          <a:ln cap="flat" cmpd="sng" w="19050">
            <a:solidFill>
              <a:srgbClr val="7CC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6"/>
          <p:cNvSpPr/>
          <p:nvPr/>
        </p:nvSpPr>
        <p:spPr>
          <a:xfrm>
            <a:off x="666750" y="3048000"/>
            <a:ext cx="3619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CC440"/>
                </a:solidFill>
                <a:latin typeface="Consolas"/>
                <a:ea typeface="Consolas"/>
                <a:cs typeface="Consolas"/>
                <a:sym typeface="Consolas"/>
              </a:rPr>
              <a:t>→ @PapayaKiwiSOC</a:t>
            </a:r>
            <a:endParaRPr b="1" sz="1400">
              <a:solidFill>
                <a:srgbClr val="7CC44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4667250" y="2952750"/>
            <a:ext cx="4000500" cy="762000"/>
          </a:xfrm>
          <a:prstGeom prst="roundRect">
            <a:avLst>
              <a:gd fmla="val 12500" name="adj"/>
            </a:avLst>
          </a:prstGeom>
          <a:solidFill>
            <a:srgbClr val="1A1020"/>
          </a:solidFill>
          <a:ln cap="flat" cmpd="sng" w="19050">
            <a:solidFill>
              <a:srgbClr val="F2A7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6"/>
          <p:cNvSpPr/>
          <p:nvPr/>
        </p:nvSpPr>
        <p:spPr>
          <a:xfrm>
            <a:off x="4857750" y="3048000"/>
            <a:ext cx="3619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2A7C3"/>
                </a:solidFill>
                <a:latin typeface="Consolas"/>
                <a:ea typeface="Consolas"/>
                <a:cs typeface="Consolas"/>
                <a:sym typeface="Consolas"/>
              </a:rPr>
              <a:t>→ patent-pending · 64/022,497</a:t>
            </a:r>
            <a:endParaRPr b="1" sz="1400">
              <a:solidFill>
                <a:srgbClr val="F2A7C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502920" y="3905250"/>
            <a:ext cx="81381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B5270"/>
                </a:solidFill>
                <a:latin typeface="Consolas"/>
                <a:ea typeface="Consolas"/>
                <a:cs typeface="Consolas"/>
                <a:sym typeface="Consolas"/>
              </a:rPr>
              <a:t>#CNAPP · #CloudSecurity · #DualAgent · #WomenInCyber · #PapayaKiwi</a:t>
            </a:r>
            <a:endParaRPr b="0" sz="1200">
              <a:solidFill>
                <a:srgbClr val="4B527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502920" y="4238625"/>
            <a:ext cx="81381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E8EAF6"/>
                </a:solidFill>
                <a:latin typeface="Trebuchet MS"/>
                <a:ea typeface="Trebuchet MS"/>
                <a:cs typeface="Trebuchet MS"/>
                <a:sym typeface="Trebuchet MS"/>
              </a:rPr>
              <a:t>Papaya Kiwi Consulting LLC · Sarasota, FL · BSides South Florida</a:t>
            </a:r>
            <a:endParaRPr b="0" sz="1400">
              <a:solidFill>
                <a:srgbClr val="E8EAF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274320" y="4892040"/>
            <a:ext cx="6858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Papaya + Kiwi  ·  papaya.kiwi  ·  @PapayaKiwiSOC  ·  BSides South Florida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8046720" y="4892040"/>
            <a:ext cx="822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3350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2E3350"/>
                </a:solidFill>
                <a:latin typeface="Consolas"/>
                <a:ea typeface="Consolas"/>
                <a:cs typeface="Consolas"/>
                <a:sym typeface="Consolas"/>
              </a:rPr>
              <a:t>14 / 14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